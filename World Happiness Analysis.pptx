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8288000" cy="10287000"/>
  <p:notesSz cx="6858000" cy="9144000"/>
  <p:embeddedFontLst>
    <p:embeddedFont>
      <p:font typeface="Canva Sans Bold" panose="020B0604020202020204" charset="0"/>
      <p:regular r:id="rId26"/>
    </p:embeddedFont>
    <p:embeddedFont>
      <p:font typeface="TT Fors" panose="020B0604020202020204" charset="0"/>
      <p:regular r:id="rId27"/>
    </p:embeddedFont>
    <p:embeddedFont>
      <p:font typeface="TT Fors Bold" panose="020B0604020202020204" charset="0"/>
      <p:regular r:id="rId28"/>
    </p:embeddedFont>
    <p:embeddedFont>
      <p:font typeface="TT Fors Bold Italics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73693" y="-433592"/>
            <a:ext cx="19574302" cy="11154184"/>
          </a:xfrm>
          <a:custGeom>
            <a:avLst/>
            <a:gdLst/>
            <a:ahLst/>
            <a:cxnLst/>
            <a:rect l="l" t="t" r="r" b="b"/>
            <a:pathLst>
              <a:path w="19574302" h="11154184">
                <a:moveTo>
                  <a:pt x="0" y="0"/>
                </a:moveTo>
                <a:lnTo>
                  <a:pt x="19574303" y="0"/>
                </a:lnTo>
                <a:lnTo>
                  <a:pt x="19574303" y="11154184"/>
                </a:lnTo>
                <a:lnTo>
                  <a:pt x="0" y="111541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459" b="-84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410060" y="3421300"/>
            <a:ext cx="13467881" cy="261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10400"/>
              </a:lnSpc>
            </a:pPr>
            <a:r>
              <a:rPr lang="en-US" sz="8000" b="1" i="1" spc="-368">
                <a:solidFill>
                  <a:srgbClr val="8C52FF"/>
                </a:solidFill>
                <a:latin typeface="TT Fors Bold Italics"/>
                <a:ea typeface="TT Fors Bold Italics"/>
                <a:cs typeface="TT Fors Bold Italics"/>
                <a:sym typeface="TT Fors Bold Italics"/>
              </a:rPr>
              <a:t>Le bonheur dans le monde : une analyse des données</a:t>
            </a:r>
          </a:p>
        </p:txBody>
      </p:sp>
      <p:sp>
        <p:nvSpPr>
          <p:cNvPr id="4" name="Freeform 4"/>
          <p:cNvSpPr/>
          <p:nvPr/>
        </p:nvSpPr>
        <p:spPr>
          <a:xfrm>
            <a:off x="15011937" y="502640"/>
            <a:ext cx="2825862" cy="1343095"/>
          </a:xfrm>
          <a:custGeom>
            <a:avLst/>
            <a:gdLst/>
            <a:ahLst/>
            <a:cxnLst/>
            <a:rect l="l" t="t" r="r" b="b"/>
            <a:pathLst>
              <a:path w="2825862" h="1343095">
                <a:moveTo>
                  <a:pt x="0" y="0"/>
                </a:moveTo>
                <a:lnTo>
                  <a:pt x="2825862" y="0"/>
                </a:lnTo>
                <a:lnTo>
                  <a:pt x="2825862" y="1343095"/>
                </a:lnTo>
                <a:lnTo>
                  <a:pt x="0" y="13430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494" t="-69163" r="-4779" b="-69163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90115" y="6360951"/>
            <a:ext cx="6039568" cy="351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 spc="-230">
                <a:solidFill>
                  <a:srgbClr val="B991CF"/>
                </a:solidFill>
                <a:latin typeface="TT Fors Bold"/>
                <a:ea typeface="TT Fors Bold"/>
                <a:cs typeface="TT Fors Bold"/>
                <a:sym typeface="TT Fors Bold"/>
              </a:rPr>
              <a:t>Travail élaboré par :</a:t>
            </a:r>
            <a:r>
              <a:rPr lang="en-US" sz="5000" spc="-23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</a:p>
          <a:p>
            <a:pPr algn="l">
              <a:lnSpc>
                <a:spcPts val="7000"/>
              </a:lnSpc>
            </a:pPr>
            <a:r>
              <a:rPr lang="en-US" sz="5000" spc="-23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Rim Ben Rached</a:t>
            </a:r>
          </a:p>
          <a:p>
            <a:pPr algn="l">
              <a:lnSpc>
                <a:spcPts val="7000"/>
              </a:lnSpc>
            </a:pPr>
            <a:r>
              <a:rPr lang="en-US" sz="5000" spc="-23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Ella Ben Makhlouf</a:t>
            </a:r>
          </a:p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spc="-23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Siwar Chahbani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569577" y="7246776"/>
            <a:ext cx="6328308" cy="17633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spc="-230" dirty="0" err="1">
                <a:solidFill>
                  <a:srgbClr val="B991CF"/>
                </a:solidFill>
                <a:latin typeface="TT Fors Bold"/>
                <a:ea typeface="TT Fors Bold"/>
                <a:cs typeface="TT Fors Bold"/>
                <a:sym typeface="TT Fors Bold"/>
              </a:rPr>
              <a:t>Année</a:t>
            </a:r>
            <a:r>
              <a:rPr lang="en-US" sz="5000" b="1" spc="-230" dirty="0">
                <a:solidFill>
                  <a:srgbClr val="B991CF"/>
                </a:solidFill>
                <a:latin typeface="TT Fors Bold"/>
                <a:ea typeface="TT Fors Bold"/>
                <a:cs typeface="TT Fors Bold"/>
                <a:sym typeface="TT Fors Bold"/>
              </a:rPr>
              <a:t> </a:t>
            </a:r>
            <a:r>
              <a:rPr lang="en-US" sz="5000" b="1" spc="-230" dirty="0" err="1">
                <a:solidFill>
                  <a:srgbClr val="B991CF"/>
                </a:solidFill>
                <a:latin typeface="TT Fors Bold"/>
                <a:ea typeface="TT Fors Bold"/>
                <a:cs typeface="TT Fors Bold"/>
                <a:sym typeface="TT Fors Bold"/>
              </a:rPr>
              <a:t>universitaire</a:t>
            </a:r>
            <a:r>
              <a:rPr lang="en-US" sz="5000" b="1" spc="-230" dirty="0">
                <a:solidFill>
                  <a:srgbClr val="B991CF"/>
                </a:solidFill>
                <a:latin typeface="TT Fors Bold"/>
                <a:ea typeface="TT Fors Bold"/>
                <a:cs typeface="TT Fors Bold"/>
                <a:sym typeface="TT Fors Bold"/>
              </a:rPr>
              <a:t> :</a:t>
            </a:r>
          </a:p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spc="-230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2025 - 2026</a:t>
            </a:r>
          </a:p>
        </p:txBody>
      </p:sp>
      <p:sp>
        <p:nvSpPr>
          <p:cNvPr id="7" name="Freeform 7"/>
          <p:cNvSpPr/>
          <p:nvPr/>
        </p:nvSpPr>
        <p:spPr>
          <a:xfrm>
            <a:off x="390115" y="606322"/>
            <a:ext cx="2424742" cy="2478826"/>
          </a:xfrm>
          <a:custGeom>
            <a:avLst/>
            <a:gdLst/>
            <a:ahLst/>
            <a:cxnLst/>
            <a:rect l="l" t="t" r="r" b="b"/>
            <a:pathLst>
              <a:path w="2424742" h="2478826">
                <a:moveTo>
                  <a:pt x="0" y="0"/>
                </a:moveTo>
                <a:lnTo>
                  <a:pt x="2424743" y="0"/>
                </a:lnTo>
                <a:lnTo>
                  <a:pt x="2424743" y="2478826"/>
                </a:lnTo>
                <a:lnTo>
                  <a:pt x="0" y="24788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7496120" y="9449655"/>
            <a:ext cx="276086" cy="65021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381929" y="2183180"/>
            <a:ext cx="5293498" cy="2535610"/>
            <a:chOff x="0" y="0"/>
            <a:chExt cx="1394172" cy="6678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4172" cy="667815"/>
            </a:xfrm>
            <a:custGeom>
              <a:avLst/>
              <a:gdLst/>
              <a:ahLst/>
              <a:cxnLst/>
              <a:rect l="l" t="t" r="r" b="b"/>
              <a:pathLst>
                <a:path w="1394172" h="667815">
                  <a:moveTo>
                    <a:pt x="11700" y="0"/>
                  </a:moveTo>
                  <a:lnTo>
                    <a:pt x="1382472" y="0"/>
                  </a:lnTo>
                  <a:cubicBezTo>
                    <a:pt x="1388934" y="0"/>
                    <a:pt x="1394172" y="5238"/>
                    <a:pt x="1394172" y="11700"/>
                  </a:cubicBezTo>
                  <a:lnTo>
                    <a:pt x="1394172" y="656115"/>
                  </a:lnTo>
                  <a:cubicBezTo>
                    <a:pt x="1394172" y="662577"/>
                    <a:pt x="1388934" y="667815"/>
                    <a:pt x="1382472" y="667815"/>
                  </a:cubicBezTo>
                  <a:lnTo>
                    <a:pt x="11700" y="667815"/>
                  </a:lnTo>
                  <a:cubicBezTo>
                    <a:pt x="5238" y="667815"/>
                    <a:pt x="0" y="662577"/>
                    <a:pt x="0" y="656115"/>
                  </a:cubicBezTo>
                  <a:lnTo>
                    <a:pt x="0" y="11700"/>
                  </a:lnTo>
                  <a:cubicBezTo>
                    <a:pt x="0" y="5238"/>
                    <a:pt x="5238" y="0"/>
                    <a:pt x="11700" y="0"/>
                  </a:cubicBezTo>
                  <a:close/>
                </a:path>
              </a:pathLst>
            </a:custGeom>
            <a:solidFill>
              <a:srgbClr val="E9C3F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94172" cy="705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27123" y="2183180"/>
            <a:ext cx="5293498" cy="2535610"/>
            <a:chOff x="0" y="0"/>
            <a:chExt cx="1394172" cy="6678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94172" cy="667815"/>
            </a:xfrm>
            <a:custGeom>
              <a:avLst/>
              <a:gdLst/>
              <a:ahLst/>
              <a:cxnLst/>
              <a:rect l="l" t="t" r="r" b="b"/>
              <a:pathLst>
                <a:path w="1394172" h="667815">
                  <a:moveTo>
                    <a:pt x="11700" y="0"/>
                  </a:moveTo>
                  <a:lnTo>
                    <a:pt x="1382472" y="0"/>
                  </a:lnTo>
                  <a:cubicBezTo>
                    <a:pt x="1388934" y="0"/>
                    <a:pt x="1394172" y="5238"/>
                    <a:pt x="1394172" y="11700"/>
                  </a:cubicBezTo>
                  <a:lnTo>
                    <a:pt x="1394172" y="656115"/>
                  </a:lnTo>
                  <a:cubicBezTo>
                    <a:pt x="1394172" y="662577"/>
                    <a:pt x="1388934" y="667815"/>
                    <a:pt x="1382472" y="667815"/>
                  </a:cubicBezTo>
                  <a:lnTo>
                    <a:pt x="11700" y="667815"/>
                  </a:lnTo>
                  <a:cubicBezTo>
                    <a:pt x="5238" y="667815"/>
                    <a:pt x="0" y="662577"/>
                    <a:pt x="0" y="656115"/>
                  </a:cubicBezTo>
                  <a:lnTo>
                    <a:pt x="0" y="11700"/>
                  </a:lnTo>
                  <a:cubicBezTo>
                    <a:pt x="0" y="5238"/>
                    <a:pt x="5238" y="0"/>
                    <a:pt x="11700" y="0"/>
                  </a:cubicBezTo>
                  <a:close/>
                </a:path>
              </a:pathLst>
            </a:custGeom>
            <a:solidFill>
              <a:srgbClr val="E9C3F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94172" cy="705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36735" y="2183180"/>
            <a:ext cx="5293498" cy="2535610"/>
            <a:chOff x="0" y="0"/>
            <a:chExt cx="1394172" cy="66781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94172" cy="667815"/>
            </a:xfrm>
            <a:custGeom>
              <a:avLst/>
              <a:gdLst/>
              <a:ahLst/>
              <a:cxnLst/>
              <a:rect l="l" t="t" r="r" b="b"/>
              <a:pathLst>
                <a:path w="1394172" h="667815">
                  <a:moveTo>
                    <a:pt x="11700" y="0"/>
                  </a:moveTo>
                  <a:lnTo>
                    <a:pt x="1382472" y="0"/>
                  </a:lnTo>
                  <a:cubicBezTo>
                    <a:pt x="1388934" y="0"/>
                    <a:pt x="1394172" y="5238"/>
                    <a:pt x="1394172" y="11700"/>
                  </a:cubicBezTo>
                  <a:lnTo>
                    <a:pt x="1394172" y="656115"/>
                  </a:lnTo>
                  <a:cubicBezTo>
                    <a:pt x="1394172" y="662577"/>
                    <a:pt x="1388934" y="667815"/>
                    <a:pt x="1382472" y="667815"/>
                  </a:cubicBezTo>
                  <a:lnTo>
                    <a:pt x="11700" y="667815"/>
                  </a:lnTo>
                  <a:cubicBezTo>
                    <a:pt x="5238" y="667815"/>
                    <a:pt x="0" y="662577"/>
                    <a:pt x="0" y="656115"/>
                  </a:cubicBezTo>
                  <a:lnTo>
                    <a:pt x="0" y="11700"/>
                  </a:lnTo>
                  <a:cubicBezTo>
                    <a:pt x="0" y="5238"/>
                    <a:pt x="5238" y="0"/>
                    <a:pt x="11700" y="0"/>
                  </a:cubicBezTo>
                  <a:close/>
                </a:path>
              </a:pathLst>
            </a:custGeom>
            <a:solidFill>
              <a:srgbClr val="E9C3F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94172" cy="705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966236" y="782958"/>
            <a:ext cx="13856669" cy="1239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9037"/>
              </a:lnSpc>
            </a:pPr>
            <a:r>
              <a:rPr lang="en-US" sz="10041" b="1" spc="-461">
                <a:solidFill>
                  <a:srgbClr val="B991CF"/>
                </a:solidFill>
                <a:latin typeface="TT Fors Bold"/>
                <a:ea typeface="TT Fors Bold"/>
                <a:cs typeface="TT Fors Bold"/>
                <a:sym typeface="TT Fors Bold"/>
              </a:rPr>
              <a:t>Plan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66236" y="2920760"/>
            <a:ext cx="242071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599"/>
              </a:lnSpc>
            </a:pPr>
            <a:r>
              <a:rPr lang="en-US" sz="3999" b="1" spc="-183">
                <a:solidFill>
                  <a:srgbClr val="8F63F6"/>
                </a:solidFill>
                <a:latin typeface="TT Fors Bold"/>
                <a:ea typeface="TT Fors Bold"/>
                <a:cs typeface="TT Fors Bold"/>
                <a:sym typeface="TT Fors Bold"/>
              </a:rPr>
              <a:t>01.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18323" y="2920760"/>
            <a:ext cx="242071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599"/>
              </a:lnSpc>
            </a:pPr>
            <a:r>
              <a:rPr lang="en-US" sz="3999" b="1" spc="-183">
                <a:solidFill>
                  <a:srgbClr val="8F63F6"/>
                </a:solidFill>
                <a:latin typeface="TT Fors Bold"/>
                <a:ea typeface="TT Fors Bold"/>
                <a:cs typeface="TT Fors Bold"/>
                <a:sym typeface="TT Fors Bold"/>
              </a:rPr>
              <a:t>02.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634715" y="2620723"/>
            <a:ext cx="242071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599"/>
              </a:lnSpc>
            </a:pPr>
            <a:r>
              <a:rPr lang="en-US" sz="3999" b="1" spc="-183">
                <a:solidFill>
                  <a:srgbClr val="8F63F6"/>
                </a:solidFill>
                <a:latin typeface="TT Fors Bold"/>
                <a:ea typeface="TT Fors Bold"/>
                <a:cs typeface="TT Fors Bold"/>
                <a:sym typeface="TT Fors Bold"/>
              </a:rPr>
              <a:t>03.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26299" y="3442883"/>
            <a:ext cx="4095146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8F63F6"/>
                </a:solidFill>
                <a:latin typeface="TT Fors Bold"/>
                <a:ea typeface="TT Fors Bold"/>
                <a:cs typeface="TT Fors Bold"/>
                <a:sym typeface="TT Fors Bold"/>
              </a:rPr>
              <a:t>Introduction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93663" y="3406370"/>
            <a:ext cx="2270030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8F63F6"/>
                </a:solidFill>
                <a:latin typeface="TT Fors Bold"/>
                <a:ea typeface="TT Fors Bold"/>
                <a:cs typeface="TT Fors Bold"/>
                <a:sym typeface="TT Fors Bold"/>
              </a:rPr>
              <a:t>Données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229628" y="3049348"/>
            <a:ext cx="5107711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8C52FF"/>
                </a:solidFill>
                <a:latin typeface="TT Fors Bold"/>
                <a:ea typeface="TT Fors Bold"/>
                <a:cs typeface="TT Fors Bold"/>
                <a:sym typeface="TT Fors Bold"/>
              </a:rPr>
              <a:t>Indicateurs clés de performance (KPIs) + Visualisations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3176591" y="5890366"/>
            <a:ext cx="5293498" cy="2535610"/>
            <a:chOff x="0" y="0"/>
            <a:chExt cx="1394172" cy="66781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94172" cy="667815"/>
            </a:xfrm>
            <a:custGeom>
              <a:avLst/>
              <a:gdLst/>
              <a:ahLst/>
              <a:cxnLst/>
              <a:rect l="l" t="t" r="r" b="b"/>
              <a:pathLst>
                <a:path w="1394172" h="667815">
                  <a:moveTo>
                    <a:pt x="11700" y="0"/>
                  </a:moveTo>
                  <a:lnTo>
                    <a:pt x="1382472" y="0"/>
                  </a:lnTo>
                  <a:cubicBezTo>
                    <a:pt x="1388934" y="0"/>
                    <a:pt x="1394172" y="5238"/>
                    <a:pt x="1394172" y="11700"/>
                  </a:cubicBezTo>
                  <a:lnTo>
                    <a:pt x="1394172" y="656115"/>
                  </a:lnTo>
                  <a:cubicBezTo>
                    <a:pt x="1394172" y="662577"/>
                    <a:pt x="1388934" y="667815"/>
                    <a:pt x="1382472" y="667815"/>
                  </a:cubicBezTo>
                  <a:lnTo>
                    <a:pt x="11700" y="667815"/>
                  </a:lnTo>
                  <a:cubicBezTo>
                    <a:pt x="5238" y="667815"/>
                    <a:pt x="0" y="662577"/>
                    <a:pt x="0" y="656115"/>
                  </a:cubicBezTo>
                  <a:lnTo>
                    <a:pt x="0" y="11700"/>
                  </a:lnTo>
                  <a:cubicBezTo>
                    <a:pt x="0" y="5238"/>
                    <a:pt x="5238" y="0"/>
                    <a:pt x="11700" y="0"/>
                  </a:cubicBezTo>
                  <a:close/>
                </a:path>
              </a:pathLst>
            </a:custGeom>
            <a:solidFill>
              <a:srgbClr val="E9C3F1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394172" cy="705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859294" y="5890366"/>
            <a:ext cx="5293498" cy="2535610"/>
            <a:chOff x="0" y="0"/>
            <a:chExt cx="1394172" cy="66781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394172" cy="667815"/>
            </a:xfrm>
            <a:custGeom>
              <a:avLst/>
              <a:gdLst/>
              <a:ahLst/>
              <a:cxnLst/>
              <a:rect l="l" t="t" r="r" b="b"/>
              <a:pathLst>
                <a:path w="1394172" h="667815">
                  <a:moveTo>
                    <a:pt x="11700" y="0"/>
                  </a:moveTo>
                  <a:lnTo>
                    <a:pt x="1382472" y="0"/>
                  </a:lnTo>
                  <a:cubicBezTo>
                    <a:pt x="1388934" y="0"/>
                    <a:pt x="1394172" y="5238"/>
                    <a:pt x="1394172" y="11700"/>
                  </a:cubicBezTo>
                  <a:lnTo>
                    <a:pt x="1394172" y="656115"/>
                  </a:lnTo>
                  <a:cubicBezTo>
                    <a:pt x="1394172" y="662577"/>
                    <a:pt x="1388934" y="667815"/>
                    <a:pt x="1382472" y="667815"/>
                  </a:cubicBezTo>
                  <a:lnTo>
                    <a:pt x="11700" y="667815"/>
                  </a:lnTo>
                  <a:cubicBezTo>
                    <a:pt x="5238" y="667815"/>
                    <a:pt x="0" y="662577"/>
                    <a:pt x="0" y="656115"/>
                  </a:cubicBezTo>
                  <a:lnTo>
                    <a:pt x="0" y="11700"/>
                  </a:lnTo>
                  <a:cubicBezTo>
                    <a:pt x="0" y="5238"/>
                    <a:pt x="5238" y="0"/>
                    <a:pt x="11700" y="0"/>
                  </a:cubicBezTo>
                  <a:close/>
                </a:path>
              </a:pathLst>
            </a:custGeom>
            <a:solidFill>
              <a:srgbClr val="E9C3F1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394172" cy="705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4612985" y="6515234"/>
            <a:ext cx="242071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599"/>
              </a:lnSpc>
            </a:pPr>
            <a:r>
              <a:rPr lang="en-US" sz="3999" b="1" spc="-183">
                <a:solidFill>
                  <a:srgbClr val="8C52FF"/>
                </a:solidFill>
                <a:latin typeface="TT Fors Bold"/>
                <a:ea typeface="TT Fors Bold"/>
                <a:cs typeface="TT Fors Bold"/>
                <a:sym typeface="TT Fors Bold"/>
              </a:rPr>
              <a:t>04.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295689" y="6515234"/>
            <a:ext cx="242071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599"/>
              </a:lnSpc>
            </a:pPr>
            <a:r>
              <a:rPr lang="en-US" sz="3999" b="1" spc="-183">
                <a:solidFill>
                  <a:srgbClr val="8C52FF"/>
                </a:solidFill>
                <a:latin typeface="TT Fors Bold"/>
                <a:ea typeface="TT Fors Bold"/>
                <a:cs typeface="TT Fors Bold"/>
                <a:sym typeface="TT Fors Bold"/>
              </a:rPr>
              <a:t>05.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341814" y="7143884"/>
            <a:ext cx="496305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8C52FF"/>
                </a:solidFill>
                <a:latin typeface="TT Fors Bold"/>
                <a:ea typeface="TT Fors Bold"/>
                <a:cs typeface="TT Fors Bold"/>
                <a:sym typeface="TT Fors Bold"/>
              </a:rPr>
              <a:t>Recommandations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87966" y="7143884"/>
            <a:ext cx="3036154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8C52FF"/>
                </a:solidFill>
                <a:latin typeface="TT Fors Bold"/>
                <a:ea typeface="TT Fors Bold"/>
                <a:cs typeface="TT Fors Bold"/>
                <a:sym typeface="TT Fors Bold"/>
              </a:rPr>
              <a:t>Conclusion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496120" y="9449655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265015" y="265916"/>
            <a:ext cx="3864100" cy="2939267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287595" y="495732"/>
            <a:ext cx="7924800" cy="1239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9037"/>
              </a:lnSpc>
            </a:pPr>
            <a:r>
              <a:rPr lang="en-US" sz="10041" b="1" spc="-461">
                <a:solidFill>
                  <a:srgbClr val="8C52FF"/>
                </a:solidFill>
                <a:latin typeface="TT Fors Bold"/>
                <a:ea typeface="TT Fors Bold"/>
                <a:cs typeface="TT Fors Bold"/>
                <a:sym typeface="TT Fors Bold"/>
              </a:rPr>
              <a:t>Introduction </a:t>
            </a:r>
          </a:p>
        </p:txBody>
      </p:sp>
      <p:grpSp>
        <p:nvGrpSpPr>
          <p:cNvPr id="4" name="Group 4"/>
          <p:cNvGrpSpPr/>
          <p:nvPr/>
        </p:nvGrpSpPr>
        <p:grpSpPr>
          <a:xfrm rot="5400000">
            <a:off x="4943987" y="-2689300"/>
            <a:ext cx="4896178" cy="13745878"/>
            <a:chOff x="0" y="0"/>
            <a:chExt cx="7839589" cy="22009420"/>
          </a:xfrm>
        </p:grpSpPr>
        <p:sp>
          <p:nvSpPr>
            <p:cNvPr id="5" name="Freeform 5"/>
            <p:cNvSpPr/>
            <p:nvPr/>
          </p:nvSpPr>
          <p:spPr>
            <a:xfrm>
              <a:off x="44657" y="29129"/>
              <a:ext cx="7750395" cy="21951151"/>
            </a:xfrm>
            <a:custGeom>
              <a:avLst/>
              <a:gdLst/>
              <a:ahLst/>
              <a:cxnLst/>
              <a:rect l="l" t="t" r="r" b="b"/>
              <a:pathLst>
                <a:path w="7750395" h="21951151">
                  <a:moveTo>
                    <a:pt x="1291782" y="0"/>
                  </a:moveTo>
                  <a:lnTo>
                    <a:pt x="6458613" y="0"/>
                  </a:lnTo>
                  <a:cubicBezTo>
                    <a:pt x="7171937" y="0"/>
                    <a:pt x="7750395" y="380621"/>
                    <a:pt x="7750395" y="849989"/>
                  </a:cubicBezTo>
                  <a:lnTo>
                    <a:pt x="7750395" y="21951151"/>
                  </a:lnTo>
                  <a:lnTo>
                    <a:pt x="0" y="21951151"/>
                  </a:lnTo>
                  <a:lnTo>
                    <a:pt x="0" y="849989"/>
                  </a:lnTo>
                  <a:cubicBezTo>
                    <a:pt x="0" y="380621"/>
                    <a:pt x="578459" y="0"/>
                    <a:pt x="1291782" y="0"/>
                  </a:cubicBezTo>
                  <a:close/>
                </a:path>
              </a:pathLst>
            </a:custGeom>
            <a:solidFill>
              <a:srgbClr val="FBF6F1">
                <a:alpha val="80784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7839641" cy="22009410"/>
            </a:xfrm>
            <a:custGeom>
              <a:avLst/>
              <a:gdLst/>
              <a:ahLst/>
              <a:cxnLst/>
              <a:rect l="l" t="t" r="r" b="b"/>
              <a:pathLst>
                <a:path w="7839641" h="22009410">
                  <a:moveTo>
                    <a:pt x="1336439" y="0"/>
                  </a:moveTo>
                  <a:lnTo>
                    <a:pt x="6503270" y="0"/>
                  </a:lnTo>
                  <a:lnTo>
                    <a:pt x="6503270" y="29129"/>
                  </a:lnTo>
                  <a:lnTo>
                    <a:pt x="6503270" y="0"/>
                  </a:lnTo>
                  <a:cubicBezTo>
                    <a:pt x="7241601" y="0"/>
                    <a:pt x="7839641" y="393826"/>
                    <a:pt x="7839641" y="879118"/>
                  </a:cubicBezTo>
                  <a:lnTo>
                    <a:pt x="7795052" y="879118"/>
                  </a:lnTo>
                  <a:lnTo>
                    <a:pt x="7839641" y="879118"/>
                  </a:lnTo>
                  <a:lnTo>
                    <a:pt x="7839641" y="21980280"/>
                  </a:lnTo>
                  <a:cubicBezTo>
                    <a:pt x="7839641" y="21996397"/>
                    <a:pt x="7819762" y="22009410"/>
                    <a:pt x="7795052" y="22009410"/>
                  </a:cubicBezTo>
                  <a:lnTo>
                    <a:pt x="44657" y="22009410"/>
                  </a:lnTo>
                  <a:cubicBezTo>
                    <a:pt x="19947" y="22009410"/>
                    <a:pt x="0" y="21996397"/>
                    <a:pt x="0" y="21980280"/>
                  </a:cubicBezTo>
                  <a:lnTo>
                    <a:pt x="0" y="879118"/>
                  </a:lnTo>
                  <a:lnTo>
                    <a:pt x="44657" y="879118"/>
                  </a:lnTo>
                  <a:lnTo>
                    <a:pt x="0" y="879118"/>
                  </a:lnTo>
                  <a:cubicBezTo>
                    <a:pt x="0" y="393826"/>
                    <a:pt x="597810" y="0"/>
                    <a:pt x="1336439" y="0"/>
                  </a:cubicBezTo>
                  <a:cubicBezTo>
                    <a:pt x="1350134" y="0"/>
                    <a:pt x="1363234" y="4078"/>
                    <a:pt x="1371569" y="11263"/>
                  </a:cubicBezTo>
                  <a:lnTo>
                    <a:pt x="1336439" y="29129"/>
                  </a:lnTo>
                  <a:lnTo>
                    <a:pt x="1336439" y="0"/>
                  </a:lnTo>
                  <a:moveTo>
                    <a:pt x="1336439" y="58258"/>
                  </a:moveTo>
                  <a:cubicBezTo>
                    <a:pt x="1322744" y="58258"/>
                    <a:pt x="1309645" y="54180"/>
                    <a:pt x="1301309" y="46995"/>
                  </a:cubicBezTo>
                  <a:lnTo>
                    <a:pt x="1336439" y="29129"/>
                  </a:lnTo>
                  <a:lnTo>
                    <a:pt x="1336439" y="58258"/>
                  </a:lnTo>
                  <a:cubicBezTo>
                    <a:pt x="648124" y="58258"/>
                    <a:pt x="89314" y="425480"/>
                    <a:pt x="89314" y="879118"/>
                  </a:cubicBezTo>
                  <a:lnTo>
                    <a:pt x="89314" y="21980280"/>
                  </a:lnTo>
                  <a:lnTo>
                    <a:pt x="44657" y="21980280"/>
                  </a:lnTo>
                  <a:lnTo>
                    <a:pt x="44657" y="21951152"/>
                  </a:lnTo>
                  <a:lnTo>
                    <a:pt x="7795051" y="21951152"/>
                  </a:lnTo>
                  <a:lnTo>
                    <a:pt x="7795051" y="21980280"/>
                  </a:lnTo>
                  <a:lnTo>
                    <a:pt x="7750394" y="21980280"/>
                  </a:lnTo>
                  <a:lnTo>
                    <a:pt x="7750394" y="879118"/>
                  </a:lnTo>
                  <a:cubicBezTo>
                    <a:pt x="7750394" y="425480"/>
                    <a:pt x="7191585" y="58258"/>
                    <a:pt x="6503270" y="58258"/>
                  </a:cubicBezTo>
                  <a:lnTo>
                    <a:pt x="1336439" y="58258"/>
                  </a:lnTo>
                  <a:close/>
                </a:path>
              </a:pathLst>
            </a:custGeom>
            <a:solidFill>
              <a:srgbClr val="CCD2D8">
                <a:alpha val="80784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713079" y="1925471"/>
            <a:ext cx="13357994" cy="5686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99"/>
              </a:lnSpc>
            </a:pPr>
            <a:r>
              <a:rPr lang="en-US" sz="29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Pourquoi ce thème ?</a:t>
            </a:r>
          </a:p>
          <a:p>
            <a:pPr marL="647697" lvl="1" indent="-323848" algn="l">
              <a:lnSpc>
                <a:spcPts val="50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Sujet universel et facilement compréhensible par tous</a:t>
            </a:r>
          </a:p>
          <a:p>
            <a:pPr marL="647697" lvl="1" indent="-323848" algn="l">
              <a:lnSpc>
                <a:spcPts val="50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Thématique fortement appréciée, car proche des préoccupations humaines et sociales</a:t>
            </a:r>
          </a:p>
          <a:p>
            <a:pPr marL="647697" lvl="1" indent="-323848" algn="l">
              <a:lnSpc>
                <a:spcPts val="50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Porte un message social, en mettant en lumière le bien-être des populations</a:t>
            </a:r>
          </a:p>
          <a:p>
            <a:pPr marL="647697" lvl="1" indent="-323848" algn="l">
              <a:lnSpc>
                <a:spcPts val="50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Permet de relier analyse de données et enjeux sociétaux</a:t>
            </a:r>
          </a:p>
          <a:p>
            <a:pPr algn="l">
              <a:lnSpc>
                <a:spcPts val="5099"/>
              </a:lnSpc>
            </a:pPr>
            <a:endParaRPr lang="en-US" sz="2999">
              <a:solidFill>
                <a:srgbClr val="000000"/>
              </a:solidFill>
              <a:latin typeface="TT Fors"/>
              <a:ea typeface="TT Fors"/>
              <a:cs typeface="TT Fors"/>
              <a:sym typeface="TT Fors"/>
            </a:endParaRPr>
          </a:p>
          <a:p>
            <a:pPr algn="l">
              <a:lnSpc>
                <a:spcPts val="5099"/>
              </a:lnSpc>
            </a:pPr>
            <a:endParaRPr lang="en-US" sz="2999">
              <a:solidFill>
                <a:srgbClr val="000000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grpSp>
        <p:nvGrpSpPr>
          <p:cNvPr id="8" name="Group 8"/>
          <p:cNvGrpSpPr/>
          <p:nvPr/>
        </p:nvGrpSpPr>
        <p:grpSpPr>
          <a:xfrm rot="5400000">
            <a:off x="8721250" y="1579708"/>
            <a:ext cx="3330221" cy="13745878"/>
            <a:chOff x="0" y="0"/>
            <a:chExt cx="5332234" cy="22009420"/>
          </a:xfrm>
        </p:grpSpPr>
        <p:sp>
          <p:nvSpPr>
            <p:cNvPr id="9" name="Freeform 9"/>
            <p:cNvSpPr/>
            <p:nvPr/>
          </p:nvSpPr>
          <p:spPr>
            <a:xfrm>
              <a:off x="30374" y="29129"/>
              <a:ext cx="5271567" cy="21951151"/>
            </a:xfrm>
            <a:custGeom>
              <a:avLst/>
              <a:gdLst/>
              <a:ahLst/>
              <a:cxnLst/>
              <a:rect l="l" t="t" r="r" b="b"/>
              <a:pathLst>
                <a:path w="5271567" h="21951151">
                  <a:moveTo>
                    <a:pt x="878629" y="0"/>
                  </a:moveTo>
                  <a:lnTo>
                    <a:pt x="4392939" y="0"/>
                  </a:lnTo>
                  <a:cubicBezTo>
                    <a:pt x="4878118" y="0"/>
                    <a:pt x="5271567" y="380621"/>
                    <a:pt x="5271567" y="849989"/>
                  </a:cubicBezTo>
                  <a:lnTo>
                    <a:pt x="5271567" y="21951151"/>
                  </a:lnTo>
                  <a:lnTo>
                    <a:pt x="0" y="21951151"/>
                  </a:lnTo>
                  <a:lnTo>
                    <a:pt x="0" y="849989"/>
                  </a:lnTo>
                  <a:cubicBezTo>
                    <a:pt x="0" y="380621"/>
                    <a:pt x="393449" y="0"/>
                    <a:pt x="878629" y="0"/>
                  </a:cubicBezTo>
                  <a:close/>
                </a:path>
              </a:pathLst>
            </a:custGeom>
            <a:solidFill>
              <a:srgbClr val="FBF6F1">
                <a:alpha val="80784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5332285" cy="22009410"/>
            </a:xfrm>
            <a:custGeom>
              <a:avLst/>
              <a:gdLst/>
              <a:ahLst/>
              <a:cxnLst/>
              <a:rect l="l" t="t" r="r" b="b"/>
              <a:pathLst>
                <a:path w="5332285" h="22009410">
                  <a:moveTo>
                    <a:pt x="909003" y="0"/>
                  </a:moveTo>
                  <a:lnTo>
                    <a:pt x="4423313" y="0"/>
                  </a:lnTo>
                  <a:lnTo>
                    <a:pt x="4423313" y="29129"/>
                  </a:lnTo>
                  <a:lnTo>
                    <a:pt x="4423313" y="0"/>
                  </a:lnTo>
                  <a:cubicBezTo>
                    <a:pt x="4925502" y="0"/>
                    <a:pt x="5332285" y="393826"/>
                    <a:pt x="5332285" y="879118"/>
                  </a:cubicBezTo>
                  <a:lnTo>
                    <a:pt x="5301941" y="879118"/>
                  </a:lnTo>
                  <a:lnTo>
                    <a:pt x="5332285" y="879118"/>
                  </a:lnTo>
                  <a:lnTo>
                    <a:pt x="5332285" y="21980280"/>
                  </a:lnTo>
                  <a:cubicBezTo>
                    <a:pt x="5332285" y="21996397"/>
                    <a:pt x="5318748" y="22009410"/>
                    <a:pt x="5301941" y="22009410"/>
                  </a:cubicBezTo>
                  <a:lnTo>
                    <a:pt x="30374" y="22009410"/>
                  </a:lnTo>
                  <a:cubicBezTo>
                    <a:pt x="13567" y="22009410"/>
                    <a:pt x="0" y="21996397"/>
                    <a:pt x="0" y="21980280"/>
                  </a:cubicBezTo>
                  <a:lnTo>
                    <a:pt x="0" y="879118"/>
                  </a:lnTo>
                  <a:lnTo>
                    <a:pt x="30374" y="879118"/>
                  </a:lnTo>
                  <a:lnTo>
                    <a:pt x="0" y="879118"/>
                  </a:lnTo>
                  <a:cubicBezTo>
                    <a:pt x="0" y="393826"/>
                    <a:pt x="406611" y="0"/>
                    <a:pt x="909003" y="0"/>
                  </a:cubicBezTo>
                  <a:cubicBezTo>
                    <a:pt x="918317" y="0"/>
                    <a:pt x="927227" y="4078"/>
                    <a:pt x="932897" y="11263"/>
                  </a:cubicBezTo>
                  <a:lnTo>
                    <a:pt x="909003" y="29129"/>
                  </a:lnTo>
                  <a:lnTo>
                    <a:pt x="909003" y="0"/>
                  </a:lnTo>
                  <a:moveTo>
                    <a:pt x="909003" y="58258"/>
                  </a:moveTo>
                  <a:cubicBezTo>
                    <a:pt x="899688" y="58258"/>
                    <a:pt x="890778" y="54180"/>
                    <a:pt x="885108" y="46995"/>
                  </a:cubicBezTo>
                  <a:lnTo>
                    <a:pt x="909003" y="29129"/>
                  </a:lnTo>
                  <a:lnTo>
                    <a:pt x="909003" y="58258"/>
                  </a:lnTo>
                  <a:cubicBezTo>
                    <a:pt x="440833" y="58258"/>
                    <a:pt x="60749" y="425480"/>
                    <a:pt x="60749" y="879118"/>
                  </a:cubicBezTo>
                  <a:lnTo>
                    <a:pt x="60749" y="21980280"/>
                  </a:lnTo>
                  <a:lnTo>
                    <a:pt x="30374" y="21980280"/>
                  </a:lnTo>
                  <a:lnTo>
                    <a:pt x="30374" y="21951152"/>
                  </a:lnTo>
                  <a:lnTo>
                    <a:pt x="5301941" y="21951152"/>
                  </a:lnTo>
                  <a:lnTo>
                    <a:pt x="5301941" y="21980280"/>
                  </a:lnTo>
                  <a:lnTo>
                    <a:pt x="5271567" y="21980280"/>
                  </a:lnTo>
                  <a:lnTo>
                    <a:pt x="5271567" y="879118"/>
                  </a:lnTo>
                  <a:cubicBezTo>
                    <a:pt x="5271567" y="425480"/>
                    <a:pt x="4891482" y="58258"/>
                    <a:pt x="4423313" y="58258"/>
                  </a:cubicBezTo>
                  <a:lnTo>
                    <a:pt x="909003" y="58258"/>
                  </a:lnTo>
                  <a:close/>
                </a:path>
              </a:pathLst>
            </a:custGeom>
            <a:solidFill>
              <a:srgbClr val="CCD2D8">
                <a:alpha val="80784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3900508" y="6819109"/>
            <a:ext cx="12971705" cy="313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99"/>
              </a:lnSpc>
            </a:pPr>
            <a:r>
              <a:rPr lang="en-US" sz="29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Intérêt analytique :</a:t>
            </a:r>
          </a:p>
          <a:p>
            <a:pPr marL="647694" lvl="1" indent="-323847" algn="l">
              <a:lnSpc>
                <a:spcPts val="50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Étudier le bonheur comme indicateur du développement humain</a:t>
            </a:r>
          </a:p>
          <a:p>
            <a:pPr marL="647694" lvl="1" indent="-323847" algn="l">
              <a:lnSpc>
                <a:spcPts val="50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Identification des facteurs ayant le plus d’impact sur le bonheur</a:t>
            </a:r>
          </a:p>
          <a:p>
            <a:pPr marL="647694" lvl="1" indent="-323847" algn="l">
              <a:lnSpc>
                <a:spcPts val="50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Analyse des disparités entre pays et régions</a:t>
            </a:r>
          </a:p>
          <a:p>
            <a:pPr marL="647694" lvl="1" indent="-323847" algn="l">
              <a:lnSpc>
                <a:spcPts val="50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Construction de recommandations basées sur les données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496120" y="9449655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671289" y="496156"/>
            <a:ext cx="7924800" cy="386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10041"/>
              </a:lnSpc>
            </a:pPr>
            <a:r>
              <a:rPr lang="en-US" sz="10041" b="1" spc="-461">
                <a:solidFill>
                  <a:srgbClr val="B991CF"/>
                </a:solidFill>
                <a:latin typeface="TT Fors Bold"/>
                <a:ea typeface="TT Fors Bold"/>
                <a:cs typeface="TT Fors Bold"/>
                <a:sym typeface="TT Fors Bold"/>
              </a:rPr>
              <a:t>Présentation générale des données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671289" y="4816230"/>
            <a:ext cx="9297912" cy="4921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4" lvl="1" indent="-377822" algn="l">
              <a:lnSpc>
                <a:spcPts val="4899"/>
              </a:lnSpc>
              <a:buFont typeface="Arial"/>
              <a:buChar char="•"/>
            </a:pPr>
            <a:r>
              <a:rPr lang="en-US" sz="3499" b="1">
                <a:solidFill>
                  <a:srgbClr val="8F63F6"/>
                </a:solidFill>
                <a:latin typeface="TT Fors Bold"/>
                <a:ea typeface="TT Fors Bold"/>
                <a:cs typeface="TT Fors Bold"/>
                <a:sym typeface="TT Fors Bold"/>
              </a:rPr>
              <a:t>Nom du dataset : </a:t>
            </a:r>
            <a:r>
              <a:rPr lang="en-US" sz="3499">
                <a:solidFill>
                  <a:srgbClr val="8F63F6"/>
                </a:solidFill>
                <a:latin typeface="TT Fors"/>
                <a:ea typeface="TT Fors"/>
                <a:cs typeface="TT Fors"/>
                <a:sym typeface="TT Fors"/>
              </a:rPr>
              <a:t>World Happiness Report (2015–2023)</a:t>
            </a:r>
          </a:p>
          <a:p>
            <a:pPr algn="l">
              <a:lnSpc>
                <a:spcPts val="4899"/>
              </a:lnSpc>
            </a:pPr>
            <a:endParaRPr lang="en-US" sz="3499">
              <a:solidFill>
                <a:srgbClr val="8F63F6"/>
              </a:solidFill>
              <a:latin typeface="TT Fors"/>
              <a:ea typeface="TT Fors"/>
              <a:cs typeface="TT Fors"/>
              <a:sym typeface="TT Fors"/>
            </a:endParaRPr>
          </a:p>
          <a:p>
            <a:pPr marL="755644" lvl="1" indent="-377822" algn="l">
              <a:lnSpc>
                <a:spcPts val="4899"/>
              </a:lnSpc>
              <a:buFont typeface="Arial"/>
              <a:buChar char="•"/>
            </a:pPr>
            <a:r>
              <a:rPr lang="en-US" sz="3499" b="1">
                <a:solidFill>
                  <a:srgbClr val="8F63F6"/>
                </a:solidFill>
                <a:latin typeface="TT Fors Bold"/>
                <a:ea typeface="TT Fors Bold"/>
                <a:cs typeface="TT Fors Bold"/>
                <a:sym typeface="TT Fors Bold"/>
              </a:rPr>
              <a:t>Fusion de 9 ensembles de données annuelles couvrant la période de 2015 à 2023, présentant les mêmes caractéristiques pour l’ensemble des pays observés.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9" y="1489990"/>
            <a:ext cx="8539631" cy="8340001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7496120" y="9449655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806349" y="5172599"/>
            <a:ext cx="6686748" cy="75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299"/>
              </a:lnSpc>
            </a:pPr>
            <a:r>
              <a:rPr lang="en-US" sz="4499" b="1">
                <a:solidFill>
                  <a:srgbClr val="B991CF"/>
                </a:solidFill>
                <a:latin typeface="TT Fors Bold"/>
                <a:ea typeface="TT Fors Bold"/>
                <a:cs typeface="TT Fors Bold"/>
                <a:sym typeface="TT Fors Bold"/>
              </a:rPr>
              <a:t>Périmètre de l’analyse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7592" y="647700"/>
            <a:ext cx="9365443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4500" b="1" spc="-207">
                <a:solidFill>
                  <a:srgbClr val="B991CF"/>
                </a:solidFill>
                <a:latin typeface="TT Fors Bold"/>
                <a:ea typeface="TT Fors Bold"/>
                <a:cs typeface="TT Fors Bold"/>
                <a:sym typeface="TT Fors Bold"/>
              </a:rPr>
              <a:t>Source des données</a:t>
            </a:r>
          </a:p>
        </p:txBody>
      </p:sp>
      <p:grpSp>
        <p:nvGrpSpPr>
          <p:cNvPr id="4" name="Group 4"/>
          <p:cNvGrpSpPr/>
          <p:nvPr/>
        </p:nvGrpSpPr>
        <p:grpSpPr>
          <a:xfrm rot="5400000">
            <a:off x="6094366" y="-4060309"/>
            <a:ext cx="2452330" cy="13745878"/>
            <a:chOff x="0" y="0"/>
            <a:chExt cx="3926585" cy="22009420"/>
          </a:xfrm>
        </p:grpSpPr>
        <p:sp>
          <p:nvSpPr>
            <p:cNvPr id="5" name="Freeform 5"/>
            <p:cNvSpPr/>
            <p:nvPr/>
          </p:nvSpPr>
          <p:spPr>
            <a:xfrm>
              <a:off x="22367" y="29129"/>
              <a:ext cx="3881911" cy="21951151"/>
            </a:xfrm>
            <a:custGeom>
              <a:avLst/>
              <a:gdLst/>
              <a:ahLst/>
              <a:cxnLst/>
              <a:rect l="l" t="t" r="r" b="b"/>
              <a:pathLst>
                <a:path w="3881911" h="21951151">
                  <a:moveTo>
                    <a:pt x="647010" y="0"/>
                  </a:moveTo>
                  <a:lnTo>
                    <a:pt x="3234901" y="0"/>
                  </a:lnTo>
                  <a:cubicBezTo>
                    <a:pt x="3592180" y="0"/>
                    <a:pt x="3881911" y="380621"/>
                    <a:pt x="3881911" y="849989"/>
                  </a:cubicBezTo>
                  <a:lnTo>
                    <a:pt x="3881911" y="21951151"/>
                  </a:lnTo>
                  <a:lnTo>
                    <a:pt x="0" y="21951151"/>
                  </a:lnTo>
                  <a:lnTo>
                    <a:pt x="0" y="849989"/>
                  </a:lnTo>
                  <a:cubicBezTo>
                    <a:pt x="0" y="380621"/>
                    <a:pt x="289731" y="0"/>
                    <a:pt x="647010" y="0"/>
                  </a:cubicBezTo>
                  <a:close/>
                </a:path>
              </a:pathLst>
            </a:custGeom>
            <a:solidFill>
              <a:srgbClr val="E9C3F1">
                <a:alpha val="80784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3926636" cy="22009410"/>
            </a:xfrm>
            <a:custGeom>
              <a:avLst/>
              <a:gdLst/>
              <a:ahLst/>
              <a:cxnLst/>
              <a:rect l="l" t="t" r="r" b="b"/>
              <a:pathLst>
                <a:path w="3926636" h="22009410">
                  <a:moveTo>
                    <a:pt x="669377" y="0"/>
                  </a:moveTo>
                  <a:lnTo>
                    <a:pt x="3257268" y="0"/>
                  </a:lnTo>
                  <a:lnTo>
                    <a:pt x="3257268" y="29129"/>
                  </a:lnTo>
                  <a:lnTo>
                    <a:pt x="3257268" y="0"/>
                  </a:lnTo>
                  <a:cubicBezTo>
                    <a:pt x="3627073" y="0"/>
                    <a:pt x="3926636" y="393826"/>
                    <a:pt x="3926636" y="879118"/>
                  </a:cubicBezTo>
                  <a:lnTo>
                    <a:pt x="3904278" y="879118"/>
                  </a:lnTo>
                  <a:lnTo>
                    <a:pt x="3926636" y="879118"/>
                  </a:lnTo>
                  <a:lnTo>
                    <a:pt x="3926636" y="21980280"/>
                  </a:lnTo>
                  <a:cubicBezTo>
                    <a:pt x="3926636" y="21996397"/>
                    <a:pt x="3916654" y="22009410"/>
                    <a:pt x="3904278" y="22009410"/>
                  </a:cubicBezTo>
                  <a:lnTo>
                    <a:pt x="22367" y="22009410"/>
                  </a:lnTo>
                  <a:cubicBezTo>
                    <a:pt x="9991" y="22009410"/>
                    <a:pt x="0" y="21996397"/>
                    <a:pt x="0" y="21980280"/>
                  </a:cubicBezTo>
                  <a:lnTo>
                    <a:pt x="0" y="879118"/>
                  </a:lnTo>
                  <a:lnTo>
                    <a:pt x="22367" y="879118"/>
                  </a:lnTo>
                  <a:lnTo>
                    <a:pt x="0" y="879118"/>
                  </a:lnTo>
                  <a:cubicBezTo>
                    <a:pt x="0" y="393826"/>
                    <a:pt x="299423" y="0"/>
                    <a:pt x="669377" y="0"/>
                  </a:cubicBezTo>
                  <a:cubicBezTo>
                    <a:pt x="676236" y="0"/>
                    <a:pt x="682798" y="4078"/>
                    <a:pt x="686973" y="11263"/>
                  </a:cubicBezTo>
                  <a:lnTo>
                    <a:pt x="669377" y="29129"/>
                  </a:lnTo>
                  <a:lnTo>
                    <a:pt x="669377" y="0"/>
                  </a:lnTo>
                  <a:moveTo>
                    <a:pt x="669377" y="58258"/>
                  </a:moveTo>
                  <a:cubicBezTo>
                    <a:pt x="662518" y="58258"/>
                    <a:pt x="655957" y="54180"/>
                    <a:pt x="651782" y="46995"/>
                  </a:cubicBezTo>
                  <a:lnTo>
                    <a:pt x="669377" y="29129"/>
                  </a:lnTo>
                  <a:lnTo>
                    <a:pt x="669377" y="58258"/>
                  </a:lnTo>
                  <a:cubicBezTo>
                    <a:pt x="324623" y="58258"/>
                    <a:pt x="44734" y="425480"/>
                    <a:pt x="44734" y="879118"/>
                  </a:cubicBezTo>
                  <a:lnTo>
                    <a:pt x="44734" y="21980280"/>
                  </a:lnTo>
                  <a:lnTo>
                    <a:pt x="22367" y="21980280"/>
                  </a:lnTo>
                  <a:lnTo>
                    <a:pt x="22367" y="21951152"/>
                  </a:lnTo>
                  <a:lnTo>
                    <a:pt x="3904277" y="21951152"/>
                  </a:lnTo>
                  <a:lnTo>
                    <a:pt x="3904277" y="21980280"/>
                  </a:lnTo>
                  <a:lnTo>
                    <a:pt x="3881910" y="21980280"/>
                  </a:lnTo>
                  <a:lnTo>
                    <a:pt x="3881910" y="879118"/>
                  </a:lnTo>
                  <a:cubicBezTo>
                    <a:pt x="3881910" y="425480"/>
                    <a:pt x="3602022" y="58258"/>
                    <a:pt x="3257268" y="58258"/>
                  </a:cubicBezTo>
                  <a:lnTo>
                    <a:pt x="669377" y="58258"/>
                  </a:lnTo>
                  <a:close/>
                </a:path>
              </a:pathLst>
            </a:custGeom>
            <a:solidFill>
              <a:srgbClr val="CCD2D8">
                <a:alpha val="80784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685064" y="1720430"/>
            <a:ext cx="13293444" cy="2098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606" lvl="1" indent="-431803" algn="l">
              <a:lnSpc>
                <a:spcPts val="5600"/>
              </a:lnSpc>
              <a:buFont typeface="Arial"/>
              <a:buChar char="•"/>
            </a:pPr>
            <a:r>
              <a:rPr lang="en-US" sz="4000" spc="-184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Kaggle (open data)</a:t>
            </a:r>
          </a:p>
          <a:p>
            <a:pPr marL="863606" lvl="1" indent="-431803" algn="l">
              <a:lnSpc>
                <a:spcPts val="5600"/>
              </a:lnSpc>
              <a:buFont typeface="Arial"/>
              <a:buChar char="•"/>
            </a:pPr>
            <a:r>
              <a:rPr lang="en-US" sz="4000" spc="-184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Données issues du World Happiness Report</a:t>
            </a:r>
          </a:p>
          <a:p>
            <a:pPr marL="863606" lvl="1" indent="-431803" algn="l">
              <a:lnSpc>
                <a:spcPts val="5600"/>
              </a:lnSpc>
              <a:buFont typeface="Arial"/>
              <a:buChar char="•"/>
            </a:pPr>
            <a:r>
              <a:rPr lang="en-US" sz="4000" spc="-184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Source libre, fiable et reconnue internationalement</a:t>
            </a:r>
          </a:p>
        </p:txBody>
      </p:sp>
      <p:grpSp>
        <p:nvGrpSpPr>
          <p:cNvPr id="8" name="Group 8"/>
          <p:cNvGrpSpPr/>
          <p:nvPr/>
        </p:nvGrpSpPr>
        <p:grpSpPr>
          <a:xfrm rot="5400000">
            <a:off x="10128963" y="1544093"/>
            <a:ext cx="3307711" cy="12507826"/>
            <a:chOff x="0" y="0"/>
            <a:chExt cx="5296192" cy="20027094"/>
          </a:xfrm>
        </p:grpSpPr>
        <p:sp>
          <p:nvSpPr>
            <p:cNvPr id="9" name="Freeform 9"/>
            <p:cNvSpPr/>
            <p:nvPr/>
          </p:nvSpPr>
          <p:spPr>
            <a:xfrm>
              <a:off x="30169" y="26506"/>
              <a:ext cx="5235935" cy="19974074"/>
            </a:xfrm>
            <a:custGeom>
              <a:avLst/>
              <a:gdLst/>
              <a:ahLst/>
              <a:cxnLst/>
              <a:rect l="l" t="t" r="r" b="b"/>
              <a:pathLst>
                <a:path w="5235935" h="19974074">
                  <a:moveTo>
                    <a:pt x="872689" y="0"/>
                  </a:moveTo>
                  <a:lnTo>
                    <a:pt x="4363245" y="0"/>
                  </a:lnTo>
                  <a:cubicBezTo>
                    <a:pt x="4845145" y="0"/>
                    <a:pt x="5235935" y="346339"/>
                    <a:pt x="5235935" y="773432"/>
                  </a:cubicBezTo>
                  <a:lnTo>
                    <a:pt x="5235935" y="19974073"/>
                  </a:lnTo>
                  <a:lnTo>
                    <a:pt x="0" y="19974073"/>
                  </a:lnTo>
                  <a:lnTo>
                    <a:pt x="0" y="773432"/>
                  </a:lnTo>
                  <a:cubicBezTo>
                    <a:pt x="0" y="346339"/>
                    <a:pt x="390789" y="0"/>
                    <a:pt x="872689" y="0"/>
                  </a:cubicBezTo>
                  <a:close/>
                </a:path>
              </a:pathLst>
            </a:custGeom>
            <a:solidFill>
              <a:srgbClr val="E9C3F1">
                <a:alpha val="80784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5296243" cy="20027085"/>
            </a:xfrm>
            <a:custGeom>
              <a:avLst/>
              <a:gdLst/>
              <a:ahLst/>
              <a:cxnLst/>
              <a:rect l="l" t="t" r="r" b="b"/>
              <a:pathLst>
                <a:path w="5296243" h="20027085">
                  <a:moveTo>
                    <a:pt x="902858" y="0"/>
                  </a:moveTo>
                  <a:lnTo>
                    <a:pt x="4393414" y="0"/>
                  </a:lnTo>
                  <a:lnTo>
                    <a:pt x="4393414" y="26506"/>
                  </a:lnTo>
                  <a:lnTo>
                    <a:pt x="4393414" y="0"/>
                  </a:lnTo>
                  <a:cubicBezTo>
                    <a:pt x="4892209" y="0"/>
                    <a:pt x="5296243" y="358355"/>
                    <a:pt x="5296243" y="799938"/>
                  </a:cubicBezTo>
                  <a:lnTo>
                    <a:pt x="5266104" y="799938"/>
                  </a:lnTo>
                  <a:lnTo>
                    <a:pt x="5296243" y="799938"/>
                  </a:lnTo>
                  <a:lnTo>
                    <a:pt x="5296243" y="20000579"/>
                  </a:lnTo>
                  <a:cubicBezTo>
                    <a:pt x="5296243" y="20015245"/>
                    <a:pt x="5282797" y="20027085"/>
                    <a:pt x="5266104" y="20027085"/>
                  </a:cubicBezTo>
                  <a:lnTo>
                    <a:pt x="30169" y="20027085"/>
                  </a:lnTo>
                  <a:cubicBezTo>
                    <a:pt x="13475" y="20027085"/>
                    <a:pt x="0" y="20015245"/>
                    <a:pt x="0" y="20000579"/>
                  </a:cubicBezTo>
                  <a:lnTo>
                    <a:pt x="0" y="799938"/>
                  </a:lnTo>
                  <a:lnTo>
                    <a:pt x="30169" y="799938"/>
                  </a:lnTo>
                  <a:lnTo>
                    <a:pt x="0" y="799938"/>
                  </a:lnTo>
                  <a:cubicBezTo>
                    <a:pt x="0" y="358355"/>
                    <a:pt x="403863" y="0"/>
                    <a:pt x="902858" y="0"/>
                  </a:cubicBezTo>
                  <a:cubicBezTo>
                    <a:pt x="912110" y="0"/>
                    <a:pt x="920960" y="3711"/>
                    <a:pt x="926591" y="10249"/>
                  </a:cubicBezTo>
                  <a:lnTo>
                    <a:pt x="902858" y="26506"/>
                  </a:lnTo>
                  <a:lnTo>
                    <a:pt x="902858" y="0"/>
                  </a:lnTo>
                  <a:moveTo>
                    <a:pt x="902858" y="53011"/>
                  </a:moveTo>
                  <a:cubicBezTo>
                    <a:pt x="893607" y="53011"/>
                    <a:pt x="884757" y="49300"/>
                    <a:pt x="879125" y="42762"/>
                  </a:cubicBezTo>
                  <a:lnTo>
                    <a:pt x="902858" y="26506"/>
                  </a:lnTo>
                  <a:lnTo>
                    <a:pt x="902858" y="53011"/>
                  </a:lnTo>
                  <a:cubicBezTo>
                    <a:pt x="437853" y="53011"/>
                    <a:pt x="60338" y="387158"/>
                    <a:pt x="60338" y="799938"/>
                  </a:cubicBezTo>
                  <a:lnTo>
                    <a:pt x="60338" y="20000579"/>
                  </a:lnTo>
                  <a:lnTo>
                    <a:pt x="30169" y="20000579"/>
                  </a:lnTo>
                  <a:lnTo>
                    <a:pt x="30169" y="19974074"/>
                  </a:lnTo>
                  <a:lnTo>
                    <a:pt x="5266103" y="19974074"/>
                  </a:lnTo>
                  <a:lnTo>
                    <a:pt x="5266103" y="20000579"/>
                  </a:lnTo>
                  <a:lnTo>
                    <a:pt x="5235934" y="20000579"/>
                  </a:lnTo>
                  <a:lnTo>
                    <a:pt x="5235934" y="799938"/>
                  </a:lnTo>
                  <a:cubicBezTo>
                    <a:pt x="5235934" y="387158"/>
                    <a:pt x="4858419" y="53011"/>
                    <a:pt x="4393414" y="53011"/>
                  </a:cubicBezTo>
                  <a:lnTo>
                    <a:pt x="902858" y="53011"/>
                  </a:lnTo>
                  <a:close/>
                </a:path>
              </a:pathLst>
            </a:custGeom>
            <a:solidFill>
              <a:srgbClr val="CCD2D8">
                <a:alpha val="80784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5731496" y="6464300"/>
            <a:ext cx="12142230" cy="279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b="1" spc="-18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Observations : </a:t>
            </a:r>
            <a:r>
              <a:rPr lang="en-US" sz="3999" spc="-18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pays du monde entier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b="1" spc="-18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Fréquence : </a:t>
            </a:r>
            <a:r>
              <a:rPr lang="en-US" sz="3999" spc="-18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annuelle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b="1" spc="-18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Objectif :</a:t>
            </a:r>
            <a:r>
              <a:rPr lang="en-US" sz="3999" spc="-18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analyser le niveau, la dispersion et les déterminants du bonheur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496120" y="9449655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B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324411" y="801753"/>
            <a:ext cx="9779565" cy="1914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7200"/>
              </a:lnSpc>
            </a:pPr>
            <a:r>
              <a:rPr lang="en-US" sz="8000" b="1" spc="-368">
                <a:solidFill>
                  <a:srgbClr val="B991CF"/>
                </a:solidFill>
                <a:latin typeface="TT Fors Bold"/>
                <a:ea typeface="TT Fors Bold"/>
                <a:cs typeface="TT Fors Bold"/>
                <a:sym typeface="TT Fors Bold"/>
              </a:rPr>
              <a:t>Description des caractéristiques</a:t>
            </a:r>
          </a:p>
        </p:txBody>
      </p:sp>
      <p:grpSp>
        <p:nvGrpSpPr>
          <p:cNvPr id="3" name="Group 3"/>
          <p:cNvGrpSpPr/>
          <p:nvPr/>
        </p:nvGrpSpPr>
        <p:grpSpPr>
          <a:xfrm rot="5400000">
            <a:off x="10547639" y="-688318"/>
            <a:ext cx="2988942" cy="10795355"/>
            <a:chOff x="0" y="0"/>
            <a:chExt cx="3985256" cy="14393806"/>
          </a:xfrm>
        </p:grpSpPr>
        <p:sp>
          <p:nvSpPr>
            <p:cNvPr id="4" name="Freeform 4"/>
            <p:cNvSpPr/>
            <p:nvPr/>
          </p:nvSpPr>
          <p:spPr>
            <a:xfrm>
              <a:off x="22701" y="19050"/>
              <a:ext cx="3939914" cy="14355699"/>
            </a:xfrm>
            <a:custGeom>
              <a:avLst/>
              <a:gdLst/>
              <a:ahLst/>
              <a:cxnLst/>
              <a:rect l="l" t="t" r="r" b="b"/>
              <a:pathLst>
                <a:path w="3939914" h="14355699">
                  <a:moveTo>
                    <a:pt x="656678" y="0"/>
                  </a:moveTo>
                  <a:lnTo>
                    <a:pt x="3283237" y="0"/>
                  </a:lnTo>
                  <a:cubicBezTo>
                    <a:pt x="3645855" y="0"/>
                    <a:pt x="3939915" y="248920"/>
                    <a:pt x="3939915" y="555879"/>
                  </a:cubicBezTo>
                  <a:lnTo>
                    <a:pt x="3939915" y="14355699"/>
                  </a:lnTo>
                  <a:lnTo>
                    <a:pt x="0" y="14355699"/>
                  </a:lnTo>
                  <a:lnTo>
                    <a:pt x="0" y="555879"/>
                  </a:lnTo>
                  <a:cubicBezTo>
                    <a:pt x="0" y="248920"/>
                    <a:pt x="294060" y="0"/>
                    <a:pt x="656678" y="0"/>
                  </a:cubicBez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3985308" cy="14393799"/>
            </a:xfrm>
            <a:custGeom>
              <a:avLst/>
              <a:gdLst/>
              <a:ahLst/>
              <a:cxnLst/>
              <a:rect l="l" t="t" r="r" b="b"/>
              <a:pathLst>
                <a:path w="3985308" h="14393799">
                  <a:moveTo>
                    <a:pt x="679379" y="0"/>
                  </a:moveTo>
                  <a:lnTo>
                    <a:pt x="3305938" y="0"/>
                  </a:lnTo>
                  <a:lnTo>
                    <a:pt x="3305938" y="19050"/>
                  </a:lnTo>
                  <a:lnTo>
                    <a:pt x="3305938" y="0"/>
                  </a:lnTo>
                  <a:cubicBezTo>
                    <a:pt x="3681269" y="0"/>
                    <a:pt x="3985308" y="257556"/>
                    <a:pt x="3985308" y="574929"/>
                  </a:cubicBezTo>
                  <a:lnTo>
                    <a:pt x="3962616" y="574929"/>
                  </a:lnTo>
                  <a:lnTo>
                    <a:pt x="3985308" y="574929"/>
                  </a:lnTo>
                  <a:lnTo>
                    <a:pt x="3985308" y="14374749"/>
                  </a:lnTo>
                  <a:cubicBezTo>
                    <a:pt x="3985308" y="14385289"/>
                    <a:pt x="3975177" y="14393799"/>
                    <a:pt x="3962616" y="14393799"/>
                  </a:cubicBezTo>
                  <a:lnTo>
                    <a:pt x="22701" y="14393799"/>
                  </a:lnTo>
                  <a:cubicBezTo>
                    <a:pt x="10140" y="14393799"/>
                    <a:pt x="0" y="14385289"/>
                    <a:pt x="0" y="14374749"/>
                  </a:cubicBezTo>
                  <a:lnTo>
                    <a:pt x="0" y="574929"/>
                  </a:lnTo>
                  <a:lnTo>
                    <a:pt x="22701" y="574929"/>
                  </a:lnTo>
                  <a:lnTo>
                    <a:pt x="0" y="574929"/>
                  </a:lnTo>
                  <a:cubicBezTo>
                    <a:pt x="0" y="257556"/>
                    <a:pt x="303897" y="0"/>
                    <a:pt x="679379" y="0"/>
                  </a:cubicBezTo>
                  <a:cubicBezTo>
                    <a:pt x="686341" y="0"/>
                    <a:pt x="693000" y="2667"/>
                    <a:pt x="697238" y="7366"/>
                  </a:cubicBezTo>
                  <a:lnTo>
                    <a:pt x="679379" y="19050"/>
                  </a:lnTo>
                  <a:lnTo>
                    <a:pt x="679379" y="0"/>
                  </a:lnTo>
                  <a:moveTo>
                    <a:pt x="679379" y="38100"/>
                  </a:moveTo>
                  <a:cubicBezTo>
                    <a:pt x="672417" y="38100"/>
                    <a:pt x="665758" y="35433"/>
                    <a:pt x="661521" y="30734"/>
                  </a:cubicBezTo>
                  <a:lnTo>
                    <a:pt x="679379" y="19050"/>
                  </a:lnTo>
                  <a:lnTo>
                    <a:pt x="679379" y="38100"/>
                  </a:lnTo>
                  <a:cubicBezTo>
                    <a:pt x="329474" y="38100"/>
                    <a:pt x="45403" y="278257"/>
                    <a:pt x="45403" y="574929"/>
                  </a:cubicBezTo>
                  <a:lnTo>
                    <a:pt x="45403" y="14374749"/>
                  </a:lnTo>
                  <a:lnTo>
                    <a:pt x="22701" y="14374749"/>
                  </a:lnTo>
                  <a:lnTo>
                    <a:pt x="22701" y="14355699"/>
                  </a:lnTo>
                  <a:lnTo>
                    <a:pt x="3962615" y="14355699"/>
                  </a:lnTo>
                  <a:lnTo>
                    <a:pt x="3962615" y="14374749"/>
                  </a:lnTo>
                  <a:lnTo>
                    <a:pt x="3939914" y="14374749"/>
                  </a:lnTo>
                  <a:lnTo>
                    <a:pt x="3939914" y="574929"/>
                  </a:lnTo>
                  <a:cubicBezTo>
                    <a:pt x="3939914" y="278257"/>
                    <a:pt x="3655843" y="38100"/>
                    <a:pt x="3305938" y="38100"/>
                  </a:cubicBezTo>
                  <a:lnTo>
                    <a:pt x="679379" y="38100"/>
                  </a:lnTo>
                  <a:close/>
                </a:path>
              </a:pathLst>
            </a:custGeom>
            <a:solidFill>
              <a:srgbClr val="CCD2D8">
                <a:alpha val="80784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6929120" y="3723894"/>
            <a:ext cx="10225981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happiness score: </a:t>
            </a:r>
            <a:r>
              <a:rPr lang="en-US" sz="29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score global de bonheur (variable cible)</a:t>
            </a: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country:</a:t>
            </a:r>
            <a:r>
              <a:rPr lang="en-US" sz="29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pays observé</a:t>
            </a: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region:</a:t>
            </a:r>
            <a:r>
              <a:rPr lang="en-US" sz="29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région géographique du pays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59545" y="6703777"/>
            <a:ext cx="6084888" cy="3128082"/>
            <a:chOff x="0" y="0"/>
            <a:chExt cx="8113184" cy="4170776"/>
          </a:xfrm>
        </p:grpSpPr>
        <p:sp>
          <p:nvSpPr>
            <p:cNvPr id="8" name="Freeform 8"/>
            <p:cNvSpPr/>
            <p:nvPr/>
          </p:nvSpPr>
          <p:spPr>
            <a:xfrm>
              <a:off x="19050" y="19050"/>
              <a:ext cx="8075040" cy="4132707"/>
            </a:xfrm>
            <a:custGeom>
              <a:avLst/>
              <a:gdLst/>
              <a:ahLst/>
              <a:cxnLst/>
              <a:rect l="l" t="t" r="r" b="b"/>
              <a:pathLst>
                <a:path w="8075040" h="4132707">
                  <a:moveTo>
                    <a:pt x="0" y="688848"/>
                  </a:moveTo>
                  <a:cubicBezTo>
                    <a:pt x="0" y="308356"/>
                    <a:pt x="309753" y="0"/>
                    <a:pt x="691896" y="0"/>
                  </a:cubicBezTo>
                  <a:lnTo>
                    <a:pt x="7383145" y="0"/>
                  </a:lnTo>
                  <a:cubicBezTo>
                    <a:pt x="7765288" y="0"/>
                    <a:pt x="8075040" y="308356"/>
                    <a:pt x="8075040" y="688848"/>
                  </a:cubicBezTo>
                  <a:lnTo>
                    <a:pt x="8075040" y="3443859"/>
                  </a:lnTo>
                  <a:cubicBezTo>
                    <a:pt x="8075040" y="3824224"/>
                    <a:pt x="7765288" y="4132707"/>
                    <a:pt x="7383145" y="4132707"/>
                  </a:cubicBezTo>
                  <a:lnTo>
                    <a:pt x="691896" y="4132707"/>
                  </a:lnTo>
                  <a:cubicBezTo>
                    <a:pt x="309753" y="4132707"/>
                    <a:pt x="0" y="3824351"/>
                    <a:pt x="0" y="3443859"/>
                  </a:cubicBezTo>
                  <a:close/>
                </a:path>
              </a:pathLst>
            </a:custGeom>
            <a:solidFill>
              <a:srgbClr val="EAEAF5"/>
            </a:solidFill>
            <a:ln w="12700">
              <a:solidFill>
                <a:srgbClr val="000000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8113140" cy="4170807"/>
            </a:xfrm>
            <a:custGeom>
              <a:avLst/>
              <a:gdLst/>
              <a:ahLst/>
              <a:cxnLst/>
              <a:rect l="l" t="t" r="r" b="b"/>
              <a:pathLst>
                <a:path w="8113140" h="4170807">
                  <a:moveTo>
                    <a:pt x="0" y="707898"/>
                  </a:moveTo>
                  <a:cubicBezTo>
                    <a:pt x="0" y="316865"/>
                    <a:pt x="318389" y="0"/>
                    <a:pt x="710946" y="0"/>
                  </a:cubicBezTo>
                  <a:lnTo>
                    <a:pt x="7402195" y="0"/>
                  </a:lnTo>
                  <a:lnTo>
                    <a:pt x="7402195" y="19050"/>
                  </a:lnTo>
                  <a:lnTo>
                    <a:pt x="7402195" y="0"/>
                  </a:lnTo>
                  <a:cubicBezTo>
                    <a:pt x="7794751" y="0"/>
                    <a:pt x="8113140" y="316865"/>
                    <a:pt x="8113140" y="707898"/>
                  </a:cubicBezTo>
                  <a:lnTo>
                    <a:pt x="8094090" y="707898"/>
                  </a:lnTo>
                  <a:lnTo>
                    <a:pt x="8113140" y="707898"/>
                  </a:lnTo>
                  <a:lnTo>
                    <a:pt x="8113140" y="3462909"/>
                  </a:lnTo>
                  <a:lnTo>
                    <a:pt x="8094090" y="3462909"/>
                  </a:lnTo>
                  <a:lnTo>
                    <a:pt x="8113140" y="3462909"/>
                  </a:lnTo>
                  <a:cubicBezTo>
                    <a:pt x="8113140" y="3853942"/>
                    <a:pt x="7794751" y="4170807"/>
                    <a:pt x="7402195" y="4170807"/>
                  </a:cubicBezTo>
                  <a:lnTo>
                    <a:pt x="7402195" y="4151757"/>
                  </a:lnTo>
                  <a:lnTo>
                    <a:pt x="7402195" y="4170807"/>
                  </a:lnTo>
                  <a:lnTo>
                    <a:pt x="710946" y="4170807"/>
                  </a:lnTo>
                  <a:lnTo>
                    <a:pt x="710946" y="4151757"/>
                  </a:lnTo>
                  <a:lnTo>
                    <a:pt x="710946" y="4170807"/>
                  </a:lnTo>
                  <a:cubicBezTo>
                    <a:pt x="318389" y="4170807"/>
                    <a:pt x="0" y="3853942"/>
                    <a:pt x="0" y="3462909"/>
                  </a:cubicBezTo>
                  <a:lnTo>
                    <a:pt x="0" y="707898"/>
                  </a:lnTo>
                  <a:lnTo>
                    <a:pt x="19050" y="707898"/>
                  </a:lnTo>
                  <a:lnTo>
                    <a:pt x="0" y="707898"/>
                  </a:lnTo>
                  <a:moveTo>
                    <a:pt x="38100" y="707898"/>
                  </a:moveTo>
                  <a:lnTo>
                    <a:pt x="38100" y="3462909"/>
                  </a:lnTo>
                  <a:lnTo>
                    <a:pt x="19050" y="3462909"/>
                  </a:lnTo>
                  <a:lnTo>
                    <a:pt x="38100" y="3462909"/>
                  </a:lnTo>
                  <a:cubicBezTo>
                    <a:pt x="38100" y="3832733"/>
                    <a:pt x="339217" y="4132707"/>
                    <a:pt x="710946" y="4132707"/>
                  </a:cubicBezTo>
                  <a:lnTo>
                    <a:pt x="7402195" y="4132707"/>
                  </a:lnTo>
                  <a:cubicBezTo>
                    <a:pt x="7773924" y="4132707"/>
                    <a:pt x="8075040" y="3832733"/>
                    <a:pt x="8075040" y="3462909"/>
                  </a:cubicBezTo>
                  <a:lnTo>
                    <a:pt x="8075040" y="707898"/>
                  </a:lnTo>
                  <a:cubicBezTo>
                    <a:pt x="8075041" y="338074"/>
                    <a:pt x="7773924" y="38100"/>
                    <a:pt x="7402195" y="38100"/>
                  </a:cubicBezTo>
                  <a:lnTo>
                    <a:pt x="710946" y="38100"/>
                  </a:lnTo>
                  <a:lnTo>
                    <a:pt x="710946" y="19050"/>
                  </a:lnTo>
                  <a:lnTo>
                    <a:pt x="710946" y="38100"/>
                  </a:lnTo>
                  <a:cubicBezTo>
                    <a:pt x="339217" y="38100"/>
                    <a:pt x="38100" y="338074"/>
                    <a:pt x="38100" y="707898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59545" y="2868879"/>
            <a:ext cx="6084888" cy="3680962"/>
            <a:chOff x="0" y="0"/>
            <a:chExt cx="8113184" cy="4907949"/>
          </a:xfrm>
        </p:grpSpPr>
        <p:sp>
          <p:nvSpPr>
            <p:cNvPr id="11" name="Freeform 11"/>
            <p:cNvSpPr/>
            <p:nvPr/>
          </p:nvSpPr>
          <p:spPr>
            <a:xfrm>
              <a:off x="19050" y="22417"/>
              <a:ext cx="8075040" cy="4863152"/>
            </a:xfrm>
            <a:custGeom>
              <a:avLst/>
              <a:gdLst/>
              <a:ahLst/>
              <a:cxnLst/>
              <a:rect l="l" t="t" r="r" b="b"/>
              <a:pathLst>
                <a:path w="8075040" h="4863152">
                  <a:moveTo>
                    <a:pt x="0" y="810600"/>
                  </a:moveTo>
                  <a:cubicBezTo>
                    <a:pt x="0" y="362857"/>
                    <a:pt x="309753" y="0"/>
                    <a:pt x="691896" y="0"/>
                  </a:cubicBezTo>
                  <a:lnTo>
                    <a:pt x="7383145" y="0"/>
                  </a:lnTo>
                  <a:cubicBezTo>
                    <a:pt x="7765288" y="0"/>
                    <a:pt x="8075040" y="362857"/>
                    <a:pt x="8075040" y="810600"/>
                  </a:cubicBezTo>
                  <a:lnTo>
                    <a:pt x="8075040" y="4052552"/>
                  </a:lnTo>
                  <a:cubicBezTo>
                    <a:pt x="8075040" y="4500146"/>
                    <a:pt x="7765288" y="4863152"/>
                    <a:pt x="7383145" y="4863152"/>
                  </a:cubicBezTo>
                  <a:lnTo>
                    <a:pt x="691896" y="4863152"/>
                  </a:lnTo>
                  <a:cubicBezTo>
                    <a:pt x="309753" y="4863152"/>
                    <a:pt x="0" y="4500295"/>
                    <a:pt x="0" y="4052552"/>
                  </a:cubicBezTo>
                  <a:close/>
                </a:path>
              </a:pathLst>
            </a:custGeom>
            <a:solidFill>
              <a:srgbClr val="EAEAF5"/>
            </a:solidFill>
            <a:ln w="12700">
              <a:solidFill>
                <a:srgbClr val="000000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8113140" cy="4907980"/>
            </a:xfrm>
            <a:custGeom>
              <a:avLst/>
              <a:gdLst/>
              <a:ahLst/>
              <a:cxnLst/>
              <a:rect l="l" t="t" r="r" b="b"/>
              <a:pathLst>
                <a:path w="8113140" h="4907980">
                  <a:moveTo>
                    <a:pt x="0" y="833017"/>
                  </a:moveTo>
                  <a:cubicBezTo>
                    <a:pt x="0" y="372870"/>
                    <a:pt x="318389" y="0"/>
                    <a:pt x="710946" y="0"/>
                  </a:cubicBezTo>
                  <a:lnTo>
                    <a:pt x="7402195" y="0"/>
                  </a:lnTo>
                  <a:lnTo>
                    <a:pt x="7402195" y="22417"/>
                  </a:lnTo>
                  <a:lnTo>
                    <a:pt x="7402195" y="0"/>
                  </a:lnTo>
                  <a:cubicBezTo>
                    <a:pt x="7794751" y="0"/>
                    <a:pt x="8113140" y="372870"/>
                    <a:pt x="8113140" y="833017"/>
                  </a:cubicBezTo>
                  <a:lnTo>
                    <a:pt x="8094090" y="833017"/>
                  </a:lnTo>
                  <a:lnTo>
                    <a:pt x="8113140" y="833017"/>
                  </a:lnTo>
                  <a:lnTo>
                    <a:pt x="8113140" y="4074969"/>
                  </a:lnTo>
                  <a:lnTo>
                    <a:pt x="8094090" y="4074969"/>
                  </a:lnTo>
                  <a:lnTo>
                    <a:pt x="8113140" y="4074969"/>
                  </a:lnTo>
                  <a:cubicBezTo>
                    <a:pt x="8113140" y="4535116"/>
                    <a:pt x="7794751" y="4907980"/>
                    <a:pt x="7402195" y="4907980"/>
                  </a:cubicBezTo>
                  <a:lnTo>
                    <a:pt x="7402195" y="4885569"/>
                  </a:lnTo>
                  <a:lnTo>
                    <a:pt x="7402195" y="4907980"/>
                  </a:lnTo>
                  <a:lnTo>
                    <a:pt x="710946" y="4907980"/>
                  </a:lnTo>
                  <a:lnTo>
                    <a:pt x="710946" y="4885569"/>
                  </a:lnTo>
                  <a:lnTo>
                    <a:pt x="710946" y="4907980"/>
                  </a:lnTo>
                  <a:cubicBezTo>
                    <a:pt x="318389" y="4907980"/>
                    <a:pt x="0" y="4535115"/>
                    <a:pt x="0" y="4074969"/>
                  </a:cubicBezTo>
                  <a:lnTo>
                    <a:pt x="0" y="833017"/>
                  </a:lnTo>
                  <a:lnTo>
                    <a:pt x="19050" y="833017"/>
                  </a:lnTo>
                  <a:lnTo>
                    <a:pt x="0" y="833017"/>
                  </a:lnTo>
                  <a:moveTo>
                    <a:pt x="38100" y="833017"/>
                  </a:moveTo>
                  <a:lnTo>
                    <a:pt x="38100" y="4074969"/>
                  </a:lnTo>
                  <a:lnTo>
                    <a:pt x="19050" y="4074969"/>
                  </a:lnTo>
                  <a:lnTo>
                    <a:pt x="38100" y="4074969"/>
                  </a:lnTo>
                  <a:cubicBezTo>
                    <a:pt x="38100" y="4510158"/>
                    <a:pt x="339217" y="4863152"/>
                    <a:pt x="710946" y="4863152"/>
                  </a:cubicBezTo>
                  <a:lnTo>
                    <a:pt x="7402195" y="4863152"/>
                  </a:lnTo>
                  <a:cubicBezTo>
                    <a:pt x="7773924" y="4863152"/>
                    <a:pt x="8075040" y="4510158"/>
                    <a:pt x="8075040" y="4074969"/>
                  </a:cubicBezTo>
                  <a:lnTo>
                    <a:pt x="8075040" y="833017"/>
                  </a:lnTo>
                  <a:cubicBezTo>
                    <a:pt x="8075041" y="397828"/>
                    <a:pt x="7773924" y="44834"/>
                    <a:pt x="7402195" y="44834"/>
                  </a:cubicBezTo>
                  <a:lnTo>
                    <a:pt x="710946" y="44834"/>
                  </a:lnTo>
                  <a:lnTo>
                    <a:pt x="710946" y="22417"/>
                  </a:lnTo>
                  <a:lnTo>
                    <a:pt x="710946" y="44834"/>
                  </a:lnTo>
                  <a:cubicBezTo>
                    <a:pt x="339217" y="44834"/>
                    <a:pt x="38100" y="397828"/>
                    <a:pt x="38100" y="833017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032256" y="3979109"/>
            <a:ext cx="5139466" cy="1384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spc="-183">
                <a:solidFill>
                  <a:srgbClr val="8F63F6"/>
                </a:solidFill>
                <a:latin typeface="TT Fors Bold"/>
                <a:ea typeface="TT Fors Bold"/>
                <a:cs typeface="TT Fors Bold"/>
                <a:sym typeface="TT Fors Bold"/>
              </a:rPr>
              <a:t>Principales variables du dataset</a:t>
            </a: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10788020" y="2870141"/>
            <a:ext cx="2508180" cy="10795355"/>
            <a:chOff x="0" y="0"/>
            <a:chExt cx="3344240" cy="14393806"/>
          </a:xfrm>
        </p:grpSpPr>
        <p:sp>
          <p:nvSpPr>
            <p:cNvPr id="15" name="Freeform 15"/>
            <p:cNvSpPr/>
            <p:nvPr/>
          </p:nvSpPr>
          <p:spPr>
            <a:xfrm>
              <a:off x="19050" y="19050"/>
              <a:ext cx="3306191" cy="14355699"/>
            </a:xfrm>
            <a:custGeom>
              <a:avLst/>
              <a:gdLst/>
              <a:ahLst/>
              <a:cxnLst/>
              <a:rect l="l" t="t" r="r" b="b"/>
              <a:pathLst>
                <a:path w="3306191" h="14355699">
                  <a:moveTo>
                    <a:pt x="551053" y="0"/>
                  </a:moveTo>
                  <a:lnTo>
                    <a:pt x="2755138" y="0"/>
                  </a:lnTo>
                  <a:cubicBezTo>
                    <a:pt x="3059430" y="0"/>
                    <a:pt x="3306191" y="248920"/>
                    <a:pt x="3306191" y="555879"/>
                  </a:cubicBezTo>
                  <a:lnTo>
                    <a:pt x="3306191" y="14355699"/>
                  </a:lnTo>
                  <a:lnTo>
                    <a:pt x="0" y="14355699"/>
                  </a:lnTo>
                  <a:lnTo>
                    <a:pt x="0" y="555879"/>
                  </a:lnTo>
                  <a:cubicBezTo>
                    <a:pt x="0" y="248920"/>
                    <a:pt x="246761" y="0"/>
                    <a:pt x="551053" y="0"/>
                  </a:cubicBez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3344291" cy="14393799"/>
            </a:xfrm>
            <a:custGeom>
              <a:avLst/>
              <a:gdLst/>
              <a:ahLst/>
              <a:cxnLst/>
              <a:rect l="l" t="t" r="r" b="b"/>
              <a:pathLst>
                <a:path w="3344291" h="14393799">
                  <a:moveTo>
                    <a:pt x="570103" y="0"/>
                  </a:moveTo>
                  <a:lnTo>
                    <a:pt x="2774188" y="0"/>
                  </a:lnTo>
                  <a:lnTo>
                    <a:pt x="2774188" y="19050"/>
                  </a:lnTo>
                  <a:lnTo>
                    <a:pt x="2774188" y="0"/>
                  </a:lnTo>
                  <a:cubicBezTo>
                    <a:pt x="3089148" y="0"/>
                    <a:pt x="3344291" y="257556"/>
                    <a:pt x="3344291" y="574929"/>
                  </a:cubicBezTo>
                  <a:lnTo>
                    <a:pt x="3325241" y="574929"/>
                  </a:lnTo>
                  <a:lnTo>
                    <a:pt x="3344291" y="574929"/>
                  </a:lnTo>
                  <a:lnTo>
                    <a:pt x="3344291" y="14374749"/>
                  </a:lnTo>
                  <a:cubicBezTo>
                    <a:pt x="3344291" y="14385289"/>
                    <a:pt x="3335782" y="14393799"/>
                    <a:pt x="3325241" y="14393799"/>
                  </a:cubicBezTo>
                  <a:lnTo>
                    <a:pt x="19050" y="14393799"/>
                  </a:lnTo>
                  <a:cubicBezTo>
                    <a:pt x="8509" y="14393799"/>
                    <a:pt x="0" y="14385289"/>
                    <a:pt x="0" y="14374749"/>
                  </a:cubicBezTo>
                  <a:lnTo>
                    <a:pt x="0" y="574929"/>
                  </a:lnTo>
                  <a:lnTo>
                    <a:pt x="19050" y="574929"/>
                  </a:lnTo>
                  <a:lnTo>
                    <a:pt x="0" y="574929"/>
                  </a:lnTo>
                  <a:cubicBezTo>
                    <a:pt x="0" y="257556"/>
                    <a:pt x="255016" y="0"/>
                    <a:pt x="570103" y="0"/>
                  </a:cubicBezTo>
                  <a:cubicBezTo>
                    <a:pt x="575945" y="0"/>
                    <a:pt x="581533" y="2667"/>
                    <a:pt x="585089" y="7366"/>
                  </a:cubicBezTo>
                  <a:lnTo>
                    <a:pt x="570103" y="19050"/>
                  </a:lnTo>
                  <a:lnTo>
                    <a:pt x="570103" y="0"/>
                  </a:lnTo>
                  <a:moveTo>
                    <a:pt x="570103" y="38100"/>
                  </a:moveTo>
                  <a:cubicBezTo>
                    <a:pt x="564261" y="38100"/>
                    <a:pt x="558673" y="35433"/>
                    <a:pt x="555117" y="30734"/>
                  </a:cubicBezTo>
                  <a:lnTo>
                    <a:pt x="570103" y="19050"/>
                  </a:lnTo>
                  <a:lnTo>
                    <a:pt x="570103" y="38100"/>
                  </a:lnTo>
                  <a:cubicBezTo>
                    <a:pt x="276479" y="38100"/>
                    <a:pt x="38100" y="278257"/>
                    <a:pt x="38100" y="574929"/>
                  </a:cubicBezTo>
                  <a:lnTo>
                    <a:pt x="38100" y="14374749"/>
                  </a:lnTo>
                  <a:lnTo>
                    <a:pt x="19050" y="14374749"/>
                  </a:lnTo>
                  <a:lnTo>
                    <a:pt x="19050" y="14355699"/>
                  </a:lnTo>
                  <a:lnTo>
                    <a:pt x="3325241" y="14355699"/>
                  </a:lnTo>
                  <a:lnTo>
                    <a:pt x="3325241" y="14374749"/>
                  </a:lnTo>
                  <a:lnTo>
                    <a:pt x="3306191" y="14374749"/>
                  </a:lnTo>
                  <a:lnTo>
                    <a:pt x="3306191" y="574929"/>
                  </a:lnTo>
                  <a:cubicBezTo>
                    <a:pt x="3306191" y="278257"/>
                    <a:pt x="3067812" y="38100"/>
                    <a:pt x="2774188" y="38100"/>
                  </a:cubicBezTo>
                  <a:lnTo>
                    <a:pt x="570103" y="38100"/>
                  </a:lnTo>
                  <a:close/>
                </a:path>
              </a:pathLst>
            </a:custGeom>
            <a:solidFill>
              <a:srgbClr val="CCD2D8">
                <a:alpha val="80784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559545" y="7889993"/>
            <a:ext cx="6084888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183">
                <a:solidFill>
                  <a:srgbClr val="8F63F6"/>
                </a:solidFill>
                <a:latin typeface="TT Fors Bold"/>
                <a:ea typeface="TT Fors Bold"/>
                <a:cs typeface="TT Fors Bold"/>
                <a:sym typeface="TT Fors Bold"/>
              </a:rPr>
              <a:t>Variable temporelle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33319" y="7715368"/>
            <a:ext cx="10225981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spc="-138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year:</a:t>
            </a:r>
            <a:r>
              <a:rPr lang="en-US" sz="3000" spc="-13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permet d’analyser l’évolution du bonheur et de ses déterminants dans le temps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496120" y="9449655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B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9929064" y="441804"/>
            <a:ext cx="5458641" cy="10795355"/>
            <a:chOff x="0" y="0"/>
            <a:chExt cx="7278187" cy="14393806"/>
          </a:xfrm>
        </p:grpSpPr>
        <p:sp>
          <p:nvSpPr>
            <p:cNvPr id="3" name="Freeform 3"/>
            <p:cNvSpPr/>
            <p:nvPr/>
          </p:nvSpPr>
          <p:spPr>
            <a:xfrm>
              <a:off x="41459" y="19050"/>
              <a:ext cx="7195380" cy="14355699"/>
            </a:xfrm>
            <a:custGeom>
              <a:avLst/>
              <a:gdLst/>
              <a:ahLst/>
              <a:cxnLst/>
              <a:rect l="l" t="t" r="r" b="b"/>
              <a:pathLst>
                <a:path w="7195380" h="14355699">
                  <a:moveTo>
                    <a:pt x="1199276" y="0"/>
                  </a:moveTo>
                  <a:lnTo>
                    <a:pt x="5996104" y="0"/>
                  </a:lnTo>
                  <a:cubicBezTo>
                    <a:pt x="6658346" y="0"/>
                    <a:pt x="7195381" y="248920"/>
                    <a:pt x="7195381" y="555879"/>
                  </a:cubicBezTo>
                  <a:lnTo>
                    <a:pt x="7195381" y="14355699"/>
                  </a:lnTo>
                  <a:lnTo>
                    <a:pt x="0" y="14355699"/>
                  </a:lnTo>
                  <a:lnTo>
                    <a:pt x="0" y="555879"/>
                  </a:lnTo>
                  <a:cubicBezTo>
                    <a:pt x="0" y="248920"/>
                    <a:pt x="537035" y="0"/>
                    <a:pt x="1199276" y="0"/>
                  </a:cubicBez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7278239" cy="14393799"/>
            </a:xfrm>
            <a:custGeom>
              <a:avLst/>
              <a:gdLst/>
              <a:ahLst/>
              <a:cxnLst/>
              <a:rect l="l" t="t" r="r" b="b"/>
              <a:pathLst>
                <a:path w="7278239" h="14393799">
                  <a:moveTo>
                    <a:pt x="1240735" y="0"/>
                  </a:moveTo>
                  <a:lnTo>
                    <a:pt x="6037563" y="0"/>
                  </a:lnTo>
                  <a:lnTo>
                    <a:pt x="6037563" y="19050"/>
                  </a:lnTo>
                  <a:lnTo>
                    <a:pt x="6037563" y="0"/>
                  </a:lnTo>
                  <a:cubicBezTo>
                    <a:pt x="6723022" y="0"/>
                    <a:pt x="7278239" y="257556"/>
                    <a:pt x="7278239" y="574929"/>
                  </a:cubicBezTo>
                  <a:lnTo>
                    <a:pt x="7236840" y="574929"/>
                  </a:lnTo>
                  <a:lnTo>
                    <a:pt x="7278239" y="574929"/>
                  </a:lnTo>
                  <a:lnTo>
                    <a:pt x="7278239" y="14374749"/>
                  </a:lnTo>
                  <a:cubicBezTo>
                    <a:pt x="7278239" y="14385289"/>
                    <a:pt x="7259780" y="14393799"/>
                    <a:pt x="7236840" y="14393799"/>
                  </a:cubicBezTo>
                  <a:lnTo>
                    <a:pt x="41459" y="14393799"/>
                  </a:lnTo>
                  <a:cubicBezTo>
                    <a:pt x="18518" y="14393799"/>
                    <a:pt x="0" y="14385289"/>
                    <a:pt x="0" y="14374749"/>
                  </a:cubicBezTo>
                  <a:lnTo>
                    <a:pt x="0" y="574929"/>
                  </a:lnTo>
                  <a:lnTo>
                    <a:pt x="41459" y="574929"/>
                  </a:lnTo>
                  <a:lnTo>
                    <a:pt x="0" y="574929"/>
                  </a:lnTo>
                  <a:cubicBezTo>
                    <a:pt x="0" y="257556"/>
                    <a:pt x="555000" y="0"/>
                    <a:pt x="1240735" y="0"/>
                  </a:cubicBezTo>
                  <a:cubicBezTo>
                    <a:pt x="1253449" y="0"/>
                    <a:pt x="1265611" y="2667"/>
                    <a:pt x="1273350" y="7366"/>
                  </a:cubicBezTo>
                  <a:lnTo>
                    <a:pt x="1240735" y="19050"/>
                  </a:lnTo>
                  <a:lnTo>
                    <a:pt x="1240735" y="0"/>
                  </a:lnTo>
                  <a:moveTo>
                    <a:pt x="1240735" y="38100"/>
                  </a:moveTo>
                  <a:cubicBezTo>
                    <a:pt x="1228021" y="38100"/>
                    <a:pt x="1215860" y="35433"/>
                    <a:pt x="1208121" y="30734"/>
                  </a:cubicBezTo>
                  <a:lnTo>
                    <a:pt x="1240735" y="19050"/>
                  </a:lnTo>
                  <a:lnTo>
                    <a:pt x="1240735" y="38100"/>
                  </a:lnTo>
                  <a:cubicBezTo>
                    <a:pt x="601711" y="38100"/>
                    <a:pt x="82918" y="278257"/>
                    <a:pt x="82918" y="574929"/>
                  </a:cubicBezTo>
                  <a:lnTo>
                    <a:pt x="82918" y="14374749"/>
                  </a:lnTo>
                  <a:lnTo>
                    <a:pt x="41459" y="14374749"/>
                  </a:lnTo>
                  <a:lnTo>
                    <a:pt x="41459" y="14355699"/>
                  </a:lnTo>
                  <a:lnTo>
                    <a:pt x="7236839" y="14355699"/>
                  </a:lnTo>
                  <a:lnTo>
                    <a:pt x="7236839" y="14374749"/>
                  </a:lnTo>
                  <a:lnTo>
                    <a:pt x="7195379" y="14374749"/>
                  </a:lnTo>
                  <a:lnTo>
                    <a:pt x="7195379" y="574929"/>
                  </a:lnTo>
                  <a:cubicBezTo>
                    <a:pt x="7195379" y="278257"/>
                    <a:pt x="6676587" y="38100"/>
                    <a:pt x="6037563" y="38100"/>
                  </a:cubicBezTo>
                  <a:lnTo>
                    <a:pt x="1240735" y="38100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7608592" y="3239156"/>
            <a:ext cx="10099583" cy="51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500"/>
              </a:lnSpc>
              <a:buFont typeface="Arial"/>
              <a:buChar char="•"/>
            </a:pPr>
            <a:r>
              <a:rPr lang="en-US" sz="3000" b="1" spc="-138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gdp per capita:</a:t>
            </a:r>
            <a:r>
              <a:rPr lang="en-US" sz="3000" spc="-13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niveau de richesse et de conditions de vie économiques</a:t>
            </a:r>
          </a:p>
          <a:p>
            <a:pPr marL="647700" lvl="1" indent="-323850" algn="l">
              <a:lnSpc>
                <a:spcPts val="4500"/>
              </a:lnSpc>
              <a:buFont typeface="Arial"/>
              <a:buChar char="•"/>
            </a:pPr>
            <a:r>
              <a:rPr lang="en-US" sz="3000" b="1" spc="-138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social support: </a:t>
            </a:r>
            <a:r>
              <a:rPr lang="en-US" sz="3000" spc="-13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qualité du soutien social et familial</a:t>
            </a:r>
          </a:p>
          <a:p>
            <a:pPr marL="647700" lvl="1" indent="-323850" algn="l">
              <a:lnSpc>
                <a:spcPts val="4500"/>
              </a:lnSpc>
              <a:buFont typeface="Arial"/>
              <a:buChar char="•"/>
            </a:pPr>
            <a:r>
              <a:rPr lang="en-US" sz="3000" b="1" spc="-138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healthy life expectancy:</a:t>
            </a:r>
            <a:r>
              <a:rPr lang="en-US" sz="3000" spc="-13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espérance de vie en bonne santé</a:t>
            </a:r>
          </a:p>
          <a:p>
            <a:pPr marL="647700" lvl="1" indent="-323850" algn="l">
              <a:lnSpc>
                <a:spcPts val="4500"/>
              </a:lnSpc>
              <a:buFont typeface="Arial"/>
              <a:buChar char="•"/>
            </a:pPr>
            <a:r>
              <a:rPr lang="en-US" sz="3000" b="1" spc="-138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freedom to make life choices:</a:t>
            </a:r>
            <a:r>
              <a:rPr lang="en-US" sz="3000" spc="-13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degré de liberté perçue dans les choix de vie</a:t>
            </a:r>
          </a:p>
          <a:p>
            <a:pPr marL="647700" lvl="1" indent="-323850" algn="l">
              <a:lnSpc>
                <a:spcPts val="4500"/>
              </a:lnSpc>
              <a:buFont typeface="Arial"/>
              <a:buChar char="•"/>
            </a:pPr>
            <a:r>
              <a:rPr lang="en-US" sz="3000" b="1" spc="-138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perceptions of corruption:</a:t>
            </a:r>
            <a:r>
              <a:rPr lang="en-US" sz="3000" spc="-13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niveau perçu de corruption et de confiance institutionnelle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52907" y="4342971"/>
            <a:ext cx="7007800" cy="3128082"/>
            <a:chOff x="0" y="0"/>
            <a:chExt cx="9343733" cy="4170776"/>
          </a:xfrm>
        </p:grpSpPr>
        <p:sp>
          <p:nvSpPr>
            <p:cNvPr id="7" name="Freeform 7"/>
            <p:cNvSpPr/>
            <p:nvPr/>
          </p:nvSpPr>
          <p:spPr>
            <a:xfrm>
              <a:off x="21939" y="19050"/>
              <a:ext cx="9299804" cy="4132707"/>
            </a:xfrm>
            <a:custGeom>
              <a:avLst/>
              <a:gdLst/>
              <a:ahLst/>
              <a:cxnLst/>
              <a:rect l="l" t="t" r="r" b="b"/>
              <a:pathLst>
                <a:path w="9299804" h="4132707">
                  <a:moveTo>
                    <a:pt x="0" y="688848"/>
                  </a:moveTo>
                  <a:cubicBezTo>
                    <a:pt x="0" y="308356"/>
                    <a:pt x="356734" y="0"/>
                    <a:pt x="796838" y="0"/>
                  </a:cubicBezTo>
                  <a:lnTo>
                    <a:pt x="8502967" y="0"/>
                  </a:lnTo>
                  <a:cubicBezTo>
                    <a:pt x="8943071" y="0"/>
                    <a:pt x="9299804" y="308356"/>
                    <a:pt x="9299804" y="688848"/>
                  </a:cubicBezTo>
                  <a:lnTo>
                    <a:pt x="9299804" y="3443859"/>
                  </a:lnTo>
                  <a:cubicBezTo>
                    <a:pt x="9299804" y="3824224"/>
                    <a:pt x="8943071" y="4132707"/>
                    <a:pt x="8502967" y="4132707"/>
                  </a:cubicBezTo>
                  <a:lnTo>
                    <a:pt x="796838" y="4132707"/>
                  </a:lnTo>
                  <a:cubicBezTo>
                    <a:pt x="356734" y="4132707"/>
                    <a:pt x="0" y="3824351"/>
                    <a:pt x="0" y="3443859"/>
                  </a:cubicBezTo>
                  <a:close/>
                </a:path>
              </a:pathLst>
            </a:custGeom>
            <a:solidFill>
              <a:srgbClr val="EAEAF5"/>
            </a:solidFill>
            <a:ln w="12700">
              <a:solidFill>
                <a:srgbClr val="000000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9343682" cy="4170807"/>
            </a:xfrm>
            <a:custGeom>
              <a:avLst/>
              <a:gdLst/>
              <a:ahLst/>
              <a:cxnLst/>
              <a:rect l="l" t="t" r="r" b="b"/>
              <a:pathLst>
                <a:path w="9343682" h="4170807">
                  <a:moveTo>
                    <a:pt x="0" y="707898"/>
                  </a:moveTo>
                  <a:cubicBezTo>
                    <a:pt x="0" y="316865"/>
                    <a:pt x="366680" y="0"/>
                    <a:pt x="818777" y="0"/>
                  </a:cubicBezTo>
                  <a:lnTo>
                    <a:pt x="8524906" y="0"/>
                  </a:lnTo>
                  <a:lnTo>
                    <a:pt x="8524906" y="19050"/>
                  </a:lnTo>
                  <a:lnTo>
                    <a:pt x="8524906" y="0"/>
                  </a:lnTo>
                  <a:cubicBezTo>
                    <a:pt x="8977002" y="0"/>
                    <a:pt x="9343682" y="316865"/>
                    <a:pt x="9343682" y="707898"/>
                  </a:cubicBezTo>
                  <a:lnTo>
                    <a:pt x="9321743" y="707898"/>
                  </a:lnTo>
                  <a:lnTo>
                    <a:pt x="9343682" y="707898"/>
                  </a:lnTo>
                  <a:lnTo>
                    <a:pt x="9343682" y="3462909"/>
                  </a:lnTo>
                  <a:lnTo>
                    <a:pt x="9321743" y="3462909"/>
                  </a:lnTo>
                  <a:lnTo>
                    <a:pt x="9343682" y="3462909"/>
                  </a:lnTo>
                  <a:cubicBezTo>
                    <a:pt x="9343682" y="3853942"/>
                    <a:pt x="8977002" y="4170807"/>
                    <a:pt x="8524906" y="4170807"/>
                  </a:cubicBezTo>
                  <a:lnTo>
                    <a:pt x="8524906" y="4151757"/>
                  </a:lnTo>
                  <a:lnTo>
                    <a:pt x="8524906" y="4170807"/>
                  </a:lnTo>
                  <a:lnTo>
                    <a:pt x="818777" y="4170807"/>
                  </a:lnTo>
                  <a:lnTo>
                    <a:pt x="818777" y="4151757"/>
                  </a:lnTo>
                  <a:lnTo>
                    <a:pt x="818777" y="4170807"/>
                  </a:lnTo>
                  <a:cubicBezTo>
                    <a:pt x="366680" y="4170807"/>
                    <a:pt x="0" y="3853942"/>
                    <a:pt x="0" y="3462909"/>
                  </a:cubicBezTo>
                  <a:lnTo>
                    <a:pt x="0" y="707898"/>
                  </a:lnTo>
                  <a:lnTo>
                    <a:pt x="21939" y="707898"/>
                  </a:lnTo>
                  <a:lnTo>
                    <a:pt x="0" y="707898"/>
                  </a:lnTo>
                  <a:moveTo>
                    <a:pt x="43879" y="707898"/>
                  </a:moveTo>
                  <a:lnTo>
                    <a:pt x="43879" y="3462909"/>
                  </a:lnTo>
                  <a:lnTo>
                    <a:pt x="21939" y="3462909"/>
                  </a:lnTo>
                  <a:lnTo>
                    <a:pt x="43879" y="3462909"/>
                  </a:lnTo>
                  <a:cubicBezTo>
                    <a:pt x="43879" y="3832733"/>
                    <a:pt x="390667" y="4132707"/>
                    <a:pt x="818777" y="4132707"/>
                  </a:cubicBezTo>
                  <a:lnTo>
                    <a:pt x="8524906" y="4132707"/>
                  </a:lnTo>
                  <a:cubicBezTo>
                    <a:pt x="8953016" y="4132707"/>
                    <a:pt x="9299804" y="3832733"/>
                    <a:pt x="9299804" y="3462909"/>
                  </a:cubicBezTo>
                  <a:lnTo>
                    <a:pt x="9299804" y="707898"/>
                  </a:lnTo>
                  <a:cubicBezTo>
                    <a:pt x="9299804" y="338074"/>
                    <a:pt x="8953016" y="38100"/>
                    <a:pt x="8524906" y="38100"/>
                  </a:cubicBezTo>
                  <a:lnTo>
                    <a:pt x="818777" y="38100"/>
                  </a:lnTo>
                  <a:lnTo>
                    <a:pt x="818777" y="19050"/>
                  </a:lnTo>
                  <a:lnTo>
                    <a:pt x="818777" y="38100"/>
                  </a:lnTo>
                  <a:cubicBezTo>
                    <a:pt x="390667" y="38100"/>
                    <a:pt x="43879" y="338074"/>
                    <a:pt x="43879" y="707898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745480" y="5176762"/>
            <a:ext cx="6292775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spc="-183">
                <a:solidFill>
                  <a:srgbClr val="8F63F6"/>
                </a:solidFill>
                <a:latin typeface="TT Fors Bold"/>
                <a:ea typeface="TT Fors Bold"/>
                <a:cs typeface="TT Fors Bold"/>
                <a:sym typeface="TT Fors Bold"/>
              </a:rPr>
              <a:t>Facteurs explicatifs du bonheur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496120" y="9449655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1931" y="4824413"/>
            <a:ext cx="16744138" cy="847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6299"/>
              </a:lnSpc>
            </a:pPr>
            <a:r>
              <a:rPr lang="en-US" sz="6999" b="1" spc="-321">
                <a:solidFill>
                  <a:srgbClr val="8C52FF"/>
                </a:solidFill>
                <a:latin typeface="TT Fors Bold"/>
                <a:ea typeface="TT Fors Bold"/>
                <a:cs typeface="TT Fors Bold"/>
                <a:sym typeface="TT Fors Bold"/>
              </a:rPr>
              <a:t>KPI 1 : Dispersion du bonheur par année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496120" y="9449655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6069" y="867125"/>
            <a:ext cx="8070290" cy="4520774"/>
            <a:chOff x="0" y="0"/>
            <a:chExt cx="2125509" cy="11906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5509" cy="1190657"/>
            </a:xfrm>
            <a:custGeom>
              <a:avLst/>
              <a:gdLst/>
              <a:ahLst/>
              <a:cxnLst/>
              <a:rect l="l" t="t" r="r" b="b"/>
              <a:pathLst>
                <a:path w="2125509" h="1190657">
                  <a:moveTo>
                    <a:pt x="7674" y="0"/>
                  </a:moveTo>
                  <a:lnTo>
                    <a:pt x="2117834" y="0"/>
                  </a:lnTo>
                  <a:cubicBezTo>
                    <a:pt x="2122073" y="0"/>
                    <a:pt x="2125509" y="3436"/>
                    <a:pt x="2125509" y="7674"/>
                  </a:cubicBezTo>
                  <a:lnTo>
                    <a:pt x="2125509" y="1182982"/>
                  </a:lnTo>
                  <a:cubicBezTo>
                    <a:pt x="2125509" y="1187221"/>
                    <a:pt x="2122073" y="1190657"/>
                    <a:pt x="2117834" y="1190657"/>
                  </a:cubicBezTo>
                  <a:lnTo>
                    <a:pt x="7674" y="1190657"/>
                  </a:lnTo>
                  <a:cubicBezTo>
                    <a:pt x="5639" y="1190657"/>
                    <a:pt x="3687" y="1189848"/>
                    <a:pt x="2248" y="1188409"/>
                  </a:cubicBezTo>
                  <a:cubicBezTo>
                    <a:pt x="809" y="1186970"/>
                    <a:pt x="0" y="1185017"/>
                    <a:pt x="0" y="1182982"/>
                  </a:cubicBezTo>
                  <a:lnTo>
                    <a:pt x="0" y="7674"/>
                  </a:lnTo>
                  <a:cubicBezTo>
                    <a:pt x="0" y="5639"/>
                    <a:pt x="809" y="3687"/>
                    <a:pt x="2248" y="2248"/>
                  </a:cubicBezTo>
                  <a:cubicBezTo>
                    <a:pt x="3687" y="809"/>
                    <a:pt x="5639" y="0"/>
                    <a:pt x="7674" y="0"/>
                  </a:cubicBezTo>
                  <a:close/>
                </a:path>
              </a:pathLst>
            </a:custGeom>
            <a:solidFill>
              <a:srgbClr val="D3CBF9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25509" cy="12287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77880" y="6323078"/>
            <a:ext cx="16272682" cy="3795427"/>
            <a:chOff x="0" y="0"/>
            <a:chExt cx="4285809" cy="9996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85809" cy="999619"/>
            </a:xfrm>
            <a:custGeom>
              <a:avLst/>
              <a:gdLst/>
              <a:ahLst/>
              <a:cxnLst/>
              <a:rect l="l" t="t" r="r" b="b"/>
              <a:pathLst>
                <a:path w="4285809" h="999619">
                  <a:moveTo>
                    <a:pt x="3806" y="0"/>
                  </a:moveTo>
                  <a:lnTo>
                    <a:pt x="4282003" y="0"/>
                  </a:lnTo>
                  <a:cubicBezTo>
                    <a:pt x="4284105" y="0"/>
                    <a:pt x="4285809" y="1704"/>
                    <a:pt x="4285809" y="3806"/>
                  </a:cubicBezTo>
                  <a:lnTo>
                    <a:pt x="4285809" y="995813"/>
                  </a:lnTo>
                  <a:cubicBezTo>
                    <a:pt x="4285809" y="997915"/>
                    <a:pt x="4284105" y="999619"/>
                    <a:pt x="4282003" y="999619"/>
                  </a:cubicBezTo>
                  <a:lnTo>
                    <a:pt x="3806" y="999619"/>
                  </a:lnTo>
                  <a:cubicBezTo>
                    <a:pt x="1704" y="999619"/>
                    <a:pt x="0" y="997915"/>
                    <a:pt x="0" y="995813"/>
                  </a:cubicBezTo>
                  <a:lnTo>
                    <a:pt x="0" y="3806"/>
                  </a:lnTo>
                  <a:cubicBezTo>
                    <a:pt x="0" y="1704"/>
                    <a:pt x="1704" y="0"/>
                    <a:pt x="3806" y="0"/>
                  </a:cubicBezTo>
                  <a:close/>
                </a:path>
              </a:pathLst>
            </a:custGeom>
            <a:solidFill>
              <a:srgbClr val="D3CBF9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285809" cy="10377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371370" y="189389"/>
            <a:ext cx="8085122" cy="5876246"/>
          </a:xfrm>
          <a:custGeom>
            <a:avLst/>
            <a:gdLst/>
            <a:ahLst/>
            <a:cxnLst/>
            <a:rect l="l" t="t" r="r" b="b"/>
            <a:pathLst>
              <a:path w="8085122" h="5876246">
                <a:moveTo>
                  <a:pt x="0" y="0"/>
                </a:moveTo>
                <a:lnTo>
                  <a:pt x="8085122" y="0"/>
                </a:lnTo>
                <a:lnTo>
                  <a:pt x="8085122" y="5876246"/>
                </a:lnTo>
                <a:lnTo>
                  <a:pt x="0" y="58762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  <p:sp>
        <p:nvSpPr>
          <p:cNvPr id="9" name="TextBox 9"/>
          <p:cNvSpPr txBox="1"/>
          <p:nvPr/>
        </p:nvSpPr>
        <p:spPr>
          <a:xfrm>
            <a:off x="736069" y="981075"/>
            <a:ext cx="8070290" cy="426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8" lvl="1" indent="-291464" algn="l">
              <a:lnSpc>
                <a:spcPts val="3779"/>
              </a:lnSpc>
              <a:buFont typeface="Arial"/>
              <a:buChar char="•"/>
            </a:pPr>
            <a:r>
              <a:rPr lang="en-US" sz="2699" b="1" spc="-124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Type de graphique : </a:t>
            </a:r>
            <a:r>
              <a:rPr lang="en-US" sz="2699" spc="-124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boxplot</a:t>
            </a:r>
          </a:p>
          <a:p>
            <a:pPr marL="582928" lvl="1" indent="-291464" algn="l">
              <a:lnSpc>
                <a:spcPts val="3779"/>
              </a:lnSpc>
              <a:buFont typeface="Arial"/>
              <a:buChar char="•"/>
            </a:pPr>
            <a:r>
              <a:rPr lang="en-US" sz="2699" b="1" spc="-124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Axe X :</a:t>
            </a:r>
            <a:r>
              <a:rPr lang="en-US" sz="2699" spc="-124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Année </a:t>
            </a:r>
          </a:p>
          <a:p>
            <a:pPr marL="582928" lvl="1" indent="-291464" algn="l">
              <a:lnSpc>
                <a:spcPts val="3779"/>
              </a:lnSpc>
              <a:buFont typeface="Arial"/>
              <a:buChar char="•"/>
            </a:pPr>
            <a:r>
              <a:rPr lang="en-US" sz="2699" b="1" spc="-124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Axe Y :</a:t>
            </a:r>
            <a:r>
              <a:rPr lang="en-US" sz="2699" spc="-124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Score du bonheur </a:t>
            </a:r>
          </a:p>
          <a:p>
            <a:pPr marL="582928" lvl="1" indent="-291464" algn="l">
              <a:lnSpc>
                <a:spcPts val="3779"/>
              </a:lnSpc>
              <a:buFont typeface="Arial"/>
              <a:buChar char="•"/>
            </a:pPr>
            <a:r>
              <a:rPr lang="en-US" sz="2699" b="1" spc="-124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Pertinence :</a:t>
            </a:r>
            <a:r>
              <a:rPr lang="en-US" sz="2699" spc="-124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lecture fine et détaillée des inégalités extrêmes</a:t>
            </a:r>
          </a:p>
          <a:p>
            <a:pPr marL="582928" lvl="1" indent="-291464" algn="l">
              <a:lnSpc>
                <a:spcPts val="3779"/>
              </a:lnSpc>
              <a:buFont typeface="Arial"/>
              <a:buChar char="•"/>
            </a:pPr>
            <a:r>
              <a:rPr lang="en-US" sz="2699" b="1" spc="-124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Éléments analysés :</a:t>
            </a:r>
          </a:p>
          <a:p>
            <a:pPr algn="l">
              <a:lnSpc>
                <a:spcPts val="3779"/>
              </a:lnSpc>
            </a:pPr>
            <a:r>
              <a:rPr lang="en-US" sz="2699" spc="-124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        Dispersion du bonheur par année</a:t>
            </a:r>
          </a:p>
          <a:p>
            <a:pPr algn="l">
              <a:lnSpc>
                <a:spcPts val="3779"/>
              </a:lnSpc>
            </a:pPr>
            <a:r>
              <a:rPr lang="en-US" sz="2699" spc="-124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        Variation de l’IQR entre 2015 et 2023</a:t>
            </a:r>
          </a:p>
          <a:p>
            <a:pPr algn="l">
              <a:lnSpc>
                <a:spcPts val="3779"/>
              </a:lnSpc>
            </a:pPr>
            <a:r>
              <a:rPr lang="en-US" sz="2699" spc="-124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        Évolution des écarts entre les pays au fil du temps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7438" y="6210296"/>
            <a:ext cx="16018385" cy="386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9" lvl="1" indent="-280669" algn="l">
              <a:lnSpc>
                <a:spcPts val="5199"/>
              </a:lnSpc>
              <a:buFont typeface="Arial"/>
              <a:buChar char="•"/>
            </a:pPr>
            <a:r>
              <a:rPr lang="en-US" sz="2599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Entre </a:t>
            </a:r>
            <a:r>
              <a:rPr lang="en-US" sz="2599" b="1" dirty="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2015 et 2019</a:t>
            </a:r>
            <a:r>
              <a:rPr lang="en-US" sz="2599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, les scores de bonheur </a:t>
            </a:r>
            <a:r>
              <a:rPr lang="en-US" sz="2599" dirty="0" err="1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présentent</a:t>
            </a:r>
            <a:r>
              <a:rPr lang="en-US" sz="2599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une</a:t>
            </a:r>
            <a:r>
              <a:rPr lang="en-US" sz="2599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dispersion </a:t>
            </a:r>
            <a:r>
              <a:rPr lang="en-US" sz="2599" dirty="0" err="1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élevée</a:t>
            </a:r>
            <a:r>
              <a:rPr lang="en-US" sz="2599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, </a:t>
            </a:r>
            <a:r>
              <a:rPr lang="en-US" sz="2599" dirty="0" err="1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montrant</a:t>
            </a:r>
            <a:r>
              <a:rPr lang="en-US" sz="2599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des </a:t>
            </a:r>
            <a:r>
              <a:rPr lang="en-US" sz="2599" dirty="0" err="1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écarts</a:t>
            </a:r>
            <a:r>
              <a:rPr lang="en-US" sz="2599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importants</a:t>
            </a:r>
            <a:r>
              <a:rPr lang="en-US" sz="2599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entre les pays.</a:t>
            </a:r>
          </a:p>
          <a:p>
            <a:pPr marL="561339" lvl="1" indent="-280669" algn="l">
              <a:lnSpc>
                <a:spcPts val="5199"/>
              </a:lnSpc>
              <a:buFont typeface="Arial"/>
              <a:buChar char="•"/>
            </a:pPr>
            <a:r>
              <a:rPr lang="en-US" sz="2599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De </a:t>
            </a:r>
            <a:r>
              <a:rPr lang="en-US" sz="2599" b="1" dirty="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2020 à 2022</a:t>
            </a:r>
            <a:r>
              <a:rPr lang="en-US" sz="2599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, les scores </a:t>
            </a:r>
            <a:r>
              <a:rPr lang="en-US" sz="2599" dirty="0" err="1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sont</a:t>
            </a:r>
            <a:r>
              <a:rPr lang="en-US" sz="2599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plus </a:t>
            </a:r>
            <a:r>
              <a:rPr lang="en-US" sz="2599" dirty="0" err="1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concentrés</a:t>
            </a:r>
            <a:r>
              <a:rPr lang="en-US" sz="2599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: les pays </a:t>
            </a:r>
            <a:r>
              <a:rPr lang="en-US" sz="2599" dirty="0" err="1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deviennent</a:t>
            </a:r>
            <a:r>
              <a:rPr lang="en-US" sz="2599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plus </a:t>
            </a:r>
            <a:r>
              <a:rPr lang="en-US" sz="2599" dirty="0" err="1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homogènes</a:t>
            </a:r>
            <a:r>
              <a:rPr lang="en-US" sz="2599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en</a:t>
            </a:r>
            <a:r>
              <a:rPr lang="en-US" sz="2599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termes</a:t>
            </a:r>
            <a:r>
              <a:rPr lang="en-US" sz="2599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de bonheur.</a:t>
            </a:r>
          </a:p>
          <a:p>
            <a:pPr marL="561339" lvl="1" indent="-280669" algn="l">
              <a:lnSpc>
                <a:spcPts val="5199"/>
              </a:lnSpc>
              <a:buFont typeface="Arial"/>
              <a:buChar char="•"/>
            </a:pPr>
            <a:r>
              <a:rPr lang="en-US" sz="2599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En </a:t>
            </a:r>
            <a:r>
              <a:rPr lang="en-US" sz="2599" b="1" dirty="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2023</a:t>
            </a:r>
            <a:r>
              <a:rPr lang="en-US" sz="2599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, la dispersion </a:t>
            </a:r>
            <a:r>
              <a:rPr lang="en-US" sz="2599" dirty="0" err="1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remonte</a:t>
            </a:r>
            <a:r>
              <a:rPr lang="en-US" sz="2599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, </a:t>
            </a:r>
            <a:r>
              <a:rPr lang="en-US" sz="2599" dirty="0" err="1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indiquant</a:t>
            </a:r>
            <a:r>
              <a:rPr lang="en-US" sz="2599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que les </a:t>
            </a:r>
            <a:r>
              <a:rPr lang="en-US" sz="2599" dirty="0" err="1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différences</a:t>
            </a:r>
            <a:r>
              <a:rPr lang="en-US" sz="2599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entre pays </a:t>
            </a:r>
            <a:r>
              <a:rPr lang="en-US" sz="2599" dirty="0" err="1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recommencent</a:t>
            </a:r>
            <a:r>
              <a:rPr lang="en-US" sz="2599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à se </a:t>
            </a:r>
            <a:r>
              <a:rPr lang="en-US" sz="2599" dirty="0" err="1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creuser</a:t>
            </a:r>
            <a:r>
              <a:rPr lang="en-US" sz="2599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.</a:t>
            </a:r>
          </a:p>
          <a:p>
            <a:pPr algn="l">
              <a:lnSpc>
                <a:spcPts val="5199"/>
              </a:lnSpc>
            </a:pPr>
            <a:endParaRPr lang="en-US" sz="2599" dirty="0">
              <a:solidFill>
                <a:srgbClr val="000000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7496120" y="9449655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4140200"/>
            <a:ext cx="18288000" cy="2044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049"/>
              </a:lnSpc>
            </a:pPr>
            <a:r>
              <a:rPr lang="en-US" sz="6999" b="1" spc="-321">
                <a:solidFill>
                  <a:srgbClr val="8C52FF"/>
                </a:solidFill>
                <a:latin typeface="TT Fors Bold"/>
                <a:ea typeface="TT Fors Bold"/>
                <a:cs typeface="TT Fors Bold"/>
                <a:sym typeface="TT Fors Bold"/>
              </a:rPr>
              <a:t>KPI 2 : Classement des pays (Top 10 / Bottom 10)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496120" y="9449655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3740" y="1028700"/>
            <a:ext cx="8070290" cy="4311089"/>
            <a:chOff x="0" y="0"/>
            <a:chExt cx="2125509" cy="11354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5509" cy="1135431"/>
            </a:xfrm>
            <a:custGeom>
              <a:avLst/>
              <a:gdLst/>
              <a:ahLst/>
              <a:cxnLst/>
              <a:rect l="l" t="t" r="r" b="b"/>
              <a:pathLst>
                <a:path w="2125509" h="1135431">
                  <a:moveTo>
                    <a:pt x="7674" y="0"/>
                  </a:moveTo>
                  <a:lnTo>
                    <a:pt x="2117834" y="0"/>
                  </a:lnTo>
                  <a:cubicBezTo>
                    <a:pt x="2122073" y="0"/>
                    <a:pt x="2125509" y="3436"/>
                    <a:pt x="2125509" y="7674"/>
                  </a:cubicBezTo>
                  <a:lnTo>
                    <a:pt x="2125509" y="1127756"/>
                  </a:lnTo>
                  <a:cubicBezTo>
                    <a:pt x="2125509" y="1129792"/>
                    <a:pt x="2124700" y="1131744"/>
                    <a:pt x="2123261" y="1133183"/>
                  </a:cubicBezTo>
                  <a:cubicBezTo>
                    <a:pt x="2121822" y="1134622"/>
                    <a:pt x="2119870" y="1135431"/>
                    <a:pt x="2117834" y="1135431"/>
                  </a:cubicBezTo>
                  <a:lnTo>
                    <a:pt x="7674" y="1135431"/>
                  </a:lnTo>
                  <a:cubicBezTo>
                    <a:pt x="3436" y="1135431"/>
                    <a:pt x="0" y="1131995"/>
                    <a:pt x="0" y="1127756"/>
                  </a:cubicBezTo>
                  <a:lnTo>
                    <a:pt x="0" y="7674"/>
                  </a:lnTo>
                  <a:cubicBezTo>
                    <a:pt x="0" y="5639"/>
                    <a:pt x="809" y="3687"/>
                    <a:pt x="2248" y="2248"/>
                  </a:cubicBezTo>
                  <a:cubicBezTo>
                    <a:pt x="3687" y="809"/>
                    <a:pt x="5639" y="0"/>
                    <a:pt x="7674" y="0"/>
                  </a:cubicBezTo>
                  <a:close/>
                </a:path>
              </a:pathLst>
            </a:custGeom>
            <a:solidFill>
              <a:srgbClr val="FBF6F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25509" cy="1173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92094" y="6946576"/>
            <a:ext cx="16272682" cy="2472344"/>
            <a:chOff x="0" y="0"/>
            <a:chExt cx="4285809" cy="6511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85809" cy="651152"/>
            </a:xfrm>
            <a:custGeom>
              <a:avLst/>
              <a:gdLst/>
              <a:ahLst/>
              <a:cxnLst/>
              <a:rect l="l" t="t" r="r" b="b"/>
              <a:pathLst>
                <a:path w="4285809" h="651152">
                  <a:moveTo>
                    <a:pt x="3806" y="0"/>
                  </a:moveTo>
                  <a:lnTo>
                    <a:pt x="4282003" y="0"/>
                  </a:lnTo>
                  <a:cubicBezTo>
                    <a:pt x="4284105" y="0"/>
                    <a:pt x="4285809" y="1704"/>
                    <a:pt x="4285809" y="3806"/>
                  </a:cubicBezTo>
                  <a:lnTo>
                    <a:pt x="4285809" y="647346"/>
                  </a:lnTo>
                  <a:cubicBezTo>
                    <a:pt x="4285809" y="649448"/>
                    <a:pt x="4284105" y="651152"/>
                    <a:pt x="4282003" y="651152"/>
                  </a:cubicBezTo>
                  <a:lnTo>
                    <a:pt x="3806" y="651152"/>
                  </a:lnTo>
                  <a:cubicBezTo>
                    <a:pt x="1704" y="651152"/>
                    <a:pt x="0" y="649448"/>
                    <a:pt x="0" y="647346"/>
                  </a:cubicBezTo>
                  <a:lnTo>
                    <a:pt x="0" y="3806"/>
                  </a:lnTo>
                  <a:cubicBezTo>
                    <a:pt x="0" y="1704"/>
                    <a:pt x="1704" y="0"/>
                    <a:pt x="3806" y="0"/>
                  </a:cubicBezTo>
                  <a:close/>
                </a:path>
              </a:pathLst>
            </a:custGeom>
            <a:solidFill>
              <a:srgbClr val="FBF6F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285809" cy="689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363124" y="352214"/>
            <a:ext cx="9584123" cy="5664060"/>
          </a:xfrm>
          <a:custGeom>
            <a:avLst/>
            <a:gdLst/>
            <a:ahLst/>
            <a:cxnLst/>
            <a:rect l="l" t="t" r="r" b="b"/>
            <a:pathLst>
              <a:path w="9584123" h="5664060">
                <a:moveTo>
                  <a:pt x="0" y="0"/>
                </a:moveTo>
                <a:lnTo>
                  <a:pt x="9584123" y="0"/>
                </a:lnTo>
                <a:lnTo>
                  <a:pt x="9584123" y="5664061"/>
                </a:lnTo>
                <a:lnTo>
                  <a:pt x="0" y="56640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113"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  <p:sp>
        <p:nvSpPr>
          <p:cNvPr id="9" name="TextBox 9"/>
          <p:cNvSpPr txBox="1"/>
          <p:nvPr/>
        </p:nvSpPr>
        <p:spPr>
          <a:xfrm>
            <a:off x="203740" y="1345551"/>
            <a:ext cx="8070290" cy="424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 spc="-138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Type de graphique : </a:t>
            </a:r>
            <a:r>
              <a:rPr lang="en-US" sz="3000" spc="-13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bar chart horizontal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 spc="-138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Axe X :</a:t>
            </a:r>
            <a:r>
              <a:rPr lang="en-US" sz="3000" spc="-13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Score du bonheur 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 spc="-138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Axe Y</a:t>
            </a:r>
            <a:r>
              <a:rPr lang="en-US" sz="3000" spc="-13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000" b="1" spc="-138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:</a:t>
            </a:r>
            <a:r>
              <a:rPr lang="en-US" sz="3000" spc="-13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Top 10 pays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 spc="-138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Pertinence : </a:t>
            </a:r>
            <a:r>
              <a:rPr lang="en-US" sz="3000" spc="-13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comparaison directe et très lisible entre pays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 spc="-138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Éléments analysés :</a:t>
            </a:r>
            <a:r>
              <a:rPr lang="en-US" sz="3000" spc="-13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scores moyens des pays les plus heureux</a:t>
            </a:r>
          </a:p>
          <a:p>
            <a:pPr algn="l">
              <a:lnSpc>
                <a:spcPts val="4200"/>
              </a:lnSpc>
            </a:pPr>
            <a:endParaRPr lang="en-US" sz="3000" spc="-138">
              <a:solidFill>
                <a:srgbClr val="000000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46391" y="7032911"/>
            <a:ext cx="16018385" cy="2147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8972" lvl="1" indent="-319486" algn="l">
              <a:lnSpc>
                <a:spcPts val="5919"/>
              </a:lnSpc>
              <a:buFont typeface="Arial"/>
              <a:buChar char="•"/>
            </a:pPr>
            <a:r>
              <a:rPr lang="en-US" sz="295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Les scores sont élevés </a:t>
            </a:r>
            <a:r>
              <a:rPr lang="en-US" sz="295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(≈ 6,2 à 7,5)</a:t>
            </a:r>
            <a:r>
              <a:rPr lang="en-US" sz="295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et relativement concentrés.</a:t>
            </a:r>
          </a:p>
          <a:p>
            <a:pPr marL="638972" lvl="1" indent="-319486" algn="l">
              <a:lnSpc>
                <a:spcPts val="5919"/>
              </a:lnSpc>
              <a:buFont typeface="Arial"/>
              <a:buChar char="•"/>
            </a:pPr>
            <a:r>
              <a:rPr lang="en-US" sz="295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Dispersion faible, les pays les plus heureux sont globalement homogènes en termes de bonheur.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496120" y="9449655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0849" y="1028700"/>
            <a:ext cx="6449568" cy="4813405"/>
            <a:chOff x="0" y="0"/>
            <a:chExt cx="1698652" cy="12677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8652" cy="1267728"/>
            </a:xfrm>
            <a:custGeom>
              <a:avLst/>
              <a:gdLst/>
              <a:ahLst/>
              <a:cxnLst/>
              <a:rect l="l" t="t" r="r" b="b"/>
              <a:pathLst>
                <a:path w="1698652" h="1267728">
                  <a:moveTo>
                    <a:pt x="9603" y="0"/>
                  </a:moveTo>
                  <a:lnTo>
                    <a:pt x="1689048" y="0"/>
                  </a:lnTo>
                  <a:cubicBezTo>
                    <a:pt x="1694352" y="0"/>
                    <a:pt x="1698652" y="4299"/>
                    <a:pt x="1698652" y="9603"/>
                  </a:cubicBezTo>
                  <a:lnTo>
                    <a:pt x="1698652" y="1258125"/>
                  </a:lnTo>
                  <a:cubicBezTo>
                    <a:pt x="1698652" y="1260672"/>
                    <a:pt x="1697640" y="1263114"/>
                    <a:pt x="1695839" y="1264915"/>
                  </a:cubicBezTo>
                  <a:cubicBezTo>
                    <a:pt x="1694038" y="1266716"/>
                    <a:pt x="1691595" y="1267728"/>
                    <a:pt x="1689048" y="1267728"/>
                  </a:cubicBezTo>
                  <a:lnTo>
                    <a:pt x="9603" y="1267728"/>
                  </a:lnTo>
                  <a:cubicBezTo>
                    <a:pt x="7056" y="1267728"/>
                    <a:pt x="4614" y="1266716"/>
                    <a:pt x="2813" y="1264915"/>
                  </a:cubicBezTo>
                  <a:cubicBezTo>
                    <a:pt x="1012" y="1263114"/>
                    <a:pt x="0" y="1260672"/>
                    <a:pt x="0" y="1258125"/>
                  </a:cubicBezTo>
                  <a:lnTo>
                    <a:pt x="0" y="9603"/>
                  </a:lnTo>
                  <a:cubicBezTo>
                    <a:pt x="0" y="7056"/>
                    <a:pt x="1012" y="4614"/>
                    <a:pt x="2813" y="2813"/>
                  </a:cubicBezTo>
                  <a:cubicBezTo>
                    <a:pt x="4614" y="1012"/>
                    <a:pt x="7056" y="0"/>
                    <a:pt x="9603" y="0"/>
                  </a:cubicBezTo>
                  <a:close/>
                </a:path>
              </a:pathLst>
            </a:custGeom>
            <a:solidFill>
              <a:srgbClr val="FBF6F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98652" cy="1305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53362" y="7078586"/>
            <a:ext cx="16272682" cy="2330522"/>
            <a:chOff x="0" y="0"/>
            <a:chExt cx="4285809" cy="613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85809" cy="613800"/>
            </a:xfrm>
            <a:custGeom>
              <a:avLst/>
              <a:gdLst/>
              <a:ahLst/>
              <a:cxnLst/>
              <a:rect l="l" t="t" r="r" b="b"/>
              <a:pathLst>
                <a:path w="4285809" h="613800">
                  <a:moveTo>
                    <a:pt x="3806" y="0"/>
                  </a:moveTo>
                  <a:lnTo>
                    <a:pt x="4282003" y="0"/>
                  </a:lnTo>
                  <a:cubicBezTo>
                    <a:pt x="4284105" y="0"/>
                    <a:pt x="4285809" y="1704"/>
                    <a:pt x="4285809" y="3806"/>
                  </a:cubicBezTo>
                  <a:lnTo>
                    <a:pt x="4285809" y="609994"/>
                  </a:lnTo>
                  <a:cubicBezTo>
                    <a:pt x="4285809" y="612096"/>
                    <a:pt x="4284105" y="613800"/>
                    <a:pt x="4282003" y="613800"/>
                  </a:cubicBezTo>
                  <a:lnTo>
                    <a:pt x="3806" y="613800"/>
                  </a:lnTo>
                  <a:cubicBezTo>
                    <a:pt x="1704" y="613800"/>
                    <a:pt x="0" y="612096"/>
                    <a:pt x="0" y="609994"/>
                  </a:cubicBezTo>
                  <a:lnTo>
                    <a:pt x="0" y="3806"/>
                  </a:lnTo>
                  <a:cubicBezTo>
                    <a:pt x="0" y="1704"/>
                    <a:pt x="1704" y="0"/>
                    <a:pt x="3806" y="0"/>
                  </a:cubicBezTo>
                  <a:close/>
                </a:path>
              </a:pathLst>
            </a:custGeom>
            <a:solidFill>
              <a:srgbClr val="FBF6F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285809" cy="651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874191" y="318687"/>
            <a:ext cx="11233729" cy="6229819"/>
          </a:xfrm>
          <a:custGeom>
            <a:avLst/>
            <a:gdLst/>
            <a:ahLst/>
            <a:cxnLst/>
            <a:rect l="l" t="t" r="r" b="b"/>
            <a:pathLst>
              <a:path w="11233729" h="6229819">
                <a:moveTo>
                  <a:pt x="0" y="0"/>
                </a:moveTo>
                <a:lnTo>
                  <a:pt x="11233729" y="0"/>
                </a:lnTo>
                <a:lnTo>
                  <a:pt x="11233729" y="6229819"/>
                </a:lnTo>
                <a:lnTo>
                  <a:pt x="0" y="62298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1"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  <p:sp>
        <p:nvSpPr>
          <p:cNvPr id="9" name="TextBox 9"/>
          <p:cNvSpPr txBox="1"/>
          <p:nvPr/>
        </p:nvSpPr>
        <p:spPr>
          <a:xfrm>
            <a:off x="240849" y="1329495"/>
            <a:ext cx="6224467" cy="494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b="1" spc="-16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Type de graphique : </a:t>
            </a:r>
            <a:r>
              <a:rPr lang="en-US" sz="3500" spc="-161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bar chart horizontal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b="1" spc="-16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Axe X :</a:t>
            </a:r>
            <a:r>
              <a:rPr lang="en-US" sz="3500" spc="-161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Score du bonheur 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b="1" spc="-16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Axe Y</a:t>
            </a:r>
            <a:r>
              <a:rPr lang="en-US" sz="3500" spc="-161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500" b="1" spc="-16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:</a:t>
            </a:r>
            <a:r>
              <a:rPr lang="en-US" sz="3500" spc="-161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Bottom 10 pays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b="1" spc="-16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Éléments analysés :</a:t>
            </a:r>
            <a:r>
              <a:rPr lang="en-US" sz="3500" spc="-161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scores moyens des pays les moins  heureux</a:t>
            </a:r>
          </a:p>
          <a:p>
            <a:pPr algn="l">
              <a:lnSpc>
                <a:spcPts val="4900"/>
              </a:lnSpc>
            </a:pPr>
            <a:endParaRPr lang="en-US" sz="3500" spc="-161">
              <a:solidFill>
                <a:srgbClr val="000000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80511" y="7122002"/>
            <a:ext cx="16018385" cy="2813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8972" lvl="1" indent="-319486" algn="l">
              <a:lnSpc>
                <a:spcPts val="5771"/>
              </a:lnSpc>
              <a:buFont typeface="Arial"/>
              <a:buChar char="•"/>
            </a:pPr>
            <a:r>
              <a:rPr lang="en-US" sz="295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Les scores sont très faibles </a:t>
            </a:r>
            <a:r>
              <a:rPr lang="en-US" sz="295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(≈ 2,99 à 3,69)</a:t>
            </a:r>
            <a:r>
              <a:rPr lang="en-US" sz="295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et concentrés.</a:t>
            </a:r>
          </a:p>
          <a:p>
            <a:pPr marL="638972" lvl="1" indent="-319486" algn="l">
              <a:lnSpc>
                <a:spcPts val="5771"/>
              </a:lnSpc>
              <a:buFont typeface="Arial"/>
              <a:buChar char="•"/>
            </a:pPr>
            <a:r>
              <a:rPr lang="en-US" sz="295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Dispersion faible, les pays les moins heureux sont globalement homogènes en termes de faible bonheur.</a:t>
            </a:r>
          </a:p>
          <a:p>
            <a:pPr algn="l">
              <a:lnSpc>
                <a:spcPts val="5771"/>
              </a:lnSpc>
            </a:pPr>
            <a:endParaRPr lang="en-US" sz="2959">
              <a:solidFill>
                <a:srgbClr val="000000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7496120" y="9449655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5042" y="4824413"/>
            <a:ext cx="17820427" cy="847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299"/>
              </a:lnSpc>
            </a:pPr>
            <a:r>
              <a:rPr lang="en-US" sz="6999" b="1" spc="-321">
                <a:solidFill>
                  <a:srgbClr val="8C52FF"/>
                </a:solidFill>
                <a:latin typeface="TT Fors Bold"/>
                <a:ea typeface="TT Fors Bold"/>
                <a:cs typeface="TT Fors Bold"/>
                <a:sym typeface="TT Fors Bold"/>
              </a:rPr>
              <a:t>KPI 3 : Évolution du bonheur par année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496120" y="9449655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2368" y="587696"/>
            <a:ext cx="8243609" cy="4555804"/>
            <a:chOff x="0" y="0"/>
            <a:chExt cx="2171156" cy="11998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71156" cy="1199883"/>
            </a:xfrm>
            <a:custGeom>
              <a:avLst/>
              <a:gdLst/>
              <a:ahLst/>
              <a:cxnLst/>
              <a:rect l="l" t="t" r="r" b="b"/>
              <a:pathLst>
                <a:path w="2171156" h="1199883">
                  <a:moveTo>
                    <a:pt x="7513" y="0"/>
                  </a:moveTo>
                  <a:lnTo>
                    <a:pt x="2163643" y="0"/>
                  </a:lnTo>
                  <a:cubicBezTo>
                    <a:pt x="2165636" y="0"/>
                    <a:pt x="2167547" y="792"/>
                    <a:pt x="2168956" y="2201"/>
                  </a:cubicBezTo>
                  <a:cubicBezTo>
                    <a:pt x="2170365" y="3610"/>
                    <a:pt x="2171156" y="5521"/>
                    <a:pt x="2171156" y="7513"/>
                  </a:cubicBezTo>
                  <a:lnTo>
                    <a:pt x="2171156" y="1192370"/>
                  </a:lnTo>
                  <a:cubicBezTo>
                    <a:pt x="2171156" y="1196519"/>
                    <a:pt x="2167792" y="1199883"/>
                    <a:pt x="2163643" y="1199883"/>
                  </a:cubicBezTo>
                  <a:lnTo>
                    <a:pt x="7513" y="1199883"/>
                  </a:lnTo>
                  <a:cubicBezTo>
                    <a:pt x="3364" y="1199883"/>
                    <a:pt x="0" y="1196519"/>
                    <a:pt x="0" y="1192370"/>
                  </a:cubicBezTo>
                  <a:lnTo>
                    <a:pt x="0" y="7513"/>
                  </a:lnTo>
                  <a:cubicBezTo>
                    <a:pt x="0" y="3364"/>
                    <a:pt x="3364" y="0"/>
                    <a:pt x="7513" y="0"/>
                  </a:cubicBezTo>
                  <a:close/>
                </a:path>
              </a:pathLst>
            </a:custGeom>
            <a:solidFill>
              <a:srgbClr val="D3CBF9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71156" cy="12379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32368" y="6200695"/>
            <a:ext cx="16272682" cy="3771165"/>
            <a:chOff x="0" y="0"/>
            <a:chExt cx="4285809" cy="99322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85809" cy="993229"/>
            </a:xfrm>
            <a:custGeom>
              <a:avLst/>
              <a:gdLst/>
              <a:ahLst/>
              <a:cxnLst/>
              <a:rect l="l" t="t" r="r" b="b"/>
              <a:pathLst>
                <a:path w="4285809" h="993229">
                  <a:moveTo>
                    <a:pt x="3806" y="0"/>
                  </a:moveTo>
                  <a:lnTo>
                    <a:pt x="4282003" y="0"/>
                  </a:lnTo>
                  <a:cubicBezTo>
                    <a:pt x="4284105" y="0"/>
                    <a:pt x="4285809" y="1704"/>
                    <a:pt x="4285809" y="3806"/>
                  </a:cubicBezTo>
                  <a:lnTo>
                    <a:pt x="4285809" y="989422"/>
                  </a:lnTo>
                  <a:cubicBezTo>
                    <a:pt x="4285809" y="991524"/>
                    <a:pt x="4284105" y="993229"/>
                    <a:pt x="4282003" y="993229"/>
                  </a:cubicBezTo>
                  <a:lnTo>
                    <a:pt x="3806" y="993229"/>
                  </a:lnTo>
                  <a:cubicBezTo>
                    <a:pt x="1704" y="993229"/>
                    <a:pt x="0" y="991524"/>
                    <a:pt x="0" y="989422"/>
                  </a:cubicBezTo>
                  <a:lnTo>
                    <a:pt x="0" y="3806"/>
                  </a:lnTo>
                  <a:cubicBezTo>
                    <a:pt x="0" y="1704"/>
                    <a:pt x="1704" y="0"/>
                    <a:pt x="3806" y="0"/>
                  </a:cubicBezTo>
                  <a:close/>
                </a:path>
              </a:pathLst>
            </a:custGeom>
            <a:solidFill>
              <a:srgbClr val="D3CBF9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285809" cy="10313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144000" y="208677"/>
            <a:ext cx="8974995" cy="5776466"/>
          </a:xfrm>
          <a:custGeom>
            <a:avLst/>
            <a:gdLst/>
            <a:ahLst/>
            <a:cxnLst/>
            <a:rect l="l" t="t" r="r" b="b"/>
            <a:pathLst>
              <a:path w="8974995" h="5776466">
                <a:moveTo>
                  <a:pt x="0" y="0"/>
                </a:moveTo>
                <a:lnTo>
                  <a:pt x="8974995" y="0"/>
                </a:lnTo>
                <a:lnTo>
                  <a:pt x="8974995" y="5776467"/>
                </a:lnTo>
                <a:lnTo>
                  <a:pt x="0" y="57764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08" r="-22863" b="-558"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  <p:sp>
        <p:nvSpPr>
          <p:cNvPr id="9" name="TextBox 9"/>
          <p:cNvSpPr txBox="1"/>
          <p:nvPr/>
        </p:nvSpPr>
        <p:spPr>
          <a:xfrm>
            <a:off x="811439" y="750320"/>
            <a:ext cx="7285468" cy="5125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5156" lvl="1" indent="-317578" algn="l">
              <a:lnSpc>
                <a:spcPts val="4118"/>
              </a:lnSpc>
              <a:buFont typeface="Arial"/>
              <a:buChar char="•"/>
            </a:pPr>
            <a:r>
              <a:rPr lang="en-US" sz="2941" b="1" spc="-135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Type de graphique : </a:t>
            </a:r>
            <a:r>
              <a:rPr lang="en-US" sz="2941" spc="-135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line chart</a:t>
            </a:r>
          </a:p>
          <a:p>
            <a:pPr marL="635156" lvl="1" indent="-317578" algn="l">
              <a:lnSpc>
                <a:spcPts val="4118"/>
              </a:lnSpc>
              <a:buFont typeface="Arial"/>
              <a:buChar char="•"/>
            </a:pPr>
            <a:r>
              <a:rPr lang="en-US" sz="2941" b="1" spc="-135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Axe X :</a:t>
            </a:r>
            <a:r>
              <a:rPr lang="en-US" sz="2941" spc="-135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Année </a:t>
            </a:r>
          </a:p>
          <a:p>
            <a:pPr marL="635156" lvl="1" indent="-317578" algn="l">
              <a:lnSpc>
                <a:spcPts val="4118"/>
              </a:lnSpc>
              <a:buFont typeface="Arial"/>
              <a:buChar char="•"/>
            </a:pPr>
            <a:r>
              <a:rPr lang="en-US" sz="2941" b="1" spc="-135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Axe Y</a:t>
            </a:r>
            <a:r>
              <a:rPr lang="en-US" sz="2941" spc="-135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941" b="1" spc="-135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: </a:t>
            </a:r>
            <a:r>
              <a:rPr lang="en-US" sz="2941" spc="-135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Score du bonheur</a:t>
            </a:r>
          </a:p>
          <a:p>
            <a:pPr marL="635156" lvl="1" indent="-317578" algn="l">
              <a:lnSpc>
                <a:spcPts val="4118"/>
              </a:lnSpc>
              <a:buFont typeface="Arial"/>
              <a:buChar char="•"/>
            </a:pPr>
            <a:r>
              <a:rPr lang="en-US" sz="2941" b="1" spc="-135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Pertinence :</a:t>
            </a:r>
            <a:r>
              <a:rPr lang="en-US" sz="2941" spc="-135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mettre en évidence la dynamique du bonheur sur plusieurs années</a:t>
            </a:r>
          </a:p>
          <a:p>
            <a:pPr marL="635156" lvl="1" indent="-317578" algn="l">
              <a:lnSpc>
                <a:spcPts val="4118"/>
              </a:lnSpc>
              <a:buFont typeface="Arial"/>
              <a:buChar char="•"/>
            </a:pPr>
            <a:r>
              <a:rPr lang="en-US" sz="2941" b="1" spc="-135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Éléments analysés : </a:t>
            </a:r>
            <a:r>
              <a:rPr lang="en-US" sz="2941" spc="-135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la tendance annuelle du bonheur</a:t>
            </a:r>
          </a:p>
          <a:p>
            <a:pPr algn="l">
              <a:lnSpc>
                <a:spcPts val="4118"/>
              </a:lnSpc>
            </a:pPr>
            <a:endParaRPr lang="en-US" sz="2941" spc="-135">
              <a:solidFill>
                <a:srgbClr val="000000"/>
              </a:solidFill>
              <a:latin typeface="TT Fors"/>
              <a:ea typeface="TT Fors"/>
              <a:cs typeface="TT Fors"/>
              <a:sym typeface="TT Fors"/>
            </a:endParaRPr>
          </a:p>
          <a:p>
            <a:pPr algn="l">
              <a:lnSpc>
                <a:spcPts val="4118"/>
              </a:lnSpc>
            </a:pPr>
            <a:endParaRPr lang="en-US" sz="2941" spc="-135">
              <a:solidFill>
                <a:srgbClr val="000000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98419" y="6253607"/>
            <a:ext cx="16206631" cy="4212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296" lvl="1" indent="-314648" algn="l">
              <a:lnSpc>
                <a:spcPts val="5654"/>
              </a:lnSpc>
              <a:buFont typeface="Arial"/>
              <a:buChar char="•"/>
            </a:pPr>
            <a:r>
              <a:rPr lang="en-US" sz="2914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Stabilité de 2015 à 2016 </a:t>
            </a:r>
            <a:r>
              <a:rPr lang="en-US" sz="2914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(autour de 5.37)</a:t>
            </a:r>
            <a:r>
              <a:rPr lang="en-US" sz="2914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.</a:t>
            </a:r>
          </a:p>
          <a:p>
            <a:pPr marL="629296" lvl="1" indent="-314648" algn="l">
              <a:lnSpc>
                <a:spcPts val="5654"/>
              </a:lnSpc>
              <a:buFont typeface="Arial"/>
              <a:buChar char="•"/>
            </a:pPr>
            <a:r>
              <a:rPr lang="en-US" sz="2914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Légère chute en 2017 </a:t>
            </a:r>
            <a:r>
              <a:rPr lang="en-US" sz="2914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(baisse de 0.02)</a:t>
            </a:r>
            <a:r>
              <a:rPr lang="en-US" sz="2914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.</a:t>
            </a:r>
          </a:p>
          <a:p>
            <a:pPr marL="629296" lvl="1" indent="-314648" algn="l">
              <a:lnSpc>
                <a:spcPts val="5654"/>
              </a:lnSpc>
              <a:buFont typeface="Arial"/>
              <a:buChar char="•"/>
            </a:pPr>
            <a:r>
              <a:rPr lang="en-US" sz="2914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Début d’amélioration à partir de 2018.</a:t>
            </a:r>
          </a:p>
          <a:p>
            <a:pPr marL="629296" lvl="1" indent="-314648" algn="l">
              <a:lnSpc>
                <a:spcPts val="5654"/>
              </a:lnSpc>
              <a:buFont typeface="Arial"/>
              <a:buChar char="•"/>
            </a:pPr>
            <a:r>
              <a:rPr lang="en-US" sz="2914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Pic : Niveau le plus élevé en 2022 </a:t>
            </a:r>
            <a:r>
              <a:rPr lang="en-US" sz="2914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(5.55)</a:t>
            </a:r>
            <a:r>
              <a:rPr lang="en-US" sz="2914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.</a:t>
            </a:r>
          </a:p>
          <a:p>
            <a:pPr marL="629296" lvl="1" indent="-314648" algn="l">
              <a:lnSpc>
                <a:spcPts val="5654"/>
              </a:lnSpc>
              <a:buFont typeface="Arial"/>
              <a:buChar char="•"/>
            </a:pPr>
            <a:r>
              <a:rPr lang="en-US" sz="2914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Légère baisse en 2023, mais score toujours supérieur aux années précédentes.</a:t>
            </a:r>
          </a:p>
          <a:p>
            <a:pPr algn="l">
              <a:lnSpc>
                <a:spcPts val="5654"/>
              </a:lnSpc>
            </a:pPr>
            <a:endParaRPr lang="en-US" sz="2914">
              <a:solidFill>
                <a:srgbClr val="000000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7496120" y="9449655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4140200"/>
            <a:ext cx="18288000" cy="2044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049"/>
              </a:lnSpc>
            </a:pPr>
            <a:r>
              <a:rPr lang="en-US" sz="6999" b="1" spc="-321">
                <a:solidFill>
                  <a:srgbClr val="8C52FF"/>
                </a:solidFill>
                <a:latin typeface="TT Fors Bold"/>
                <a:ea typeface="TT Fors Bold"/>
                <a:cs typeface="TT Fors Bold"/>
                <a:sym typeface="TT Fors Bold"/>
              </a:rPr>
              <a:t>KPI 4 : Facteurs clés du bonheur (corrélation)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496120" y="9449655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5837" y="424305"/>
            <a:ext cx="10057810" cy="4860859"/>
            <a:chOff x="0" y="0"/>
            <a:chExt cx="2648971" cy="12802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48971" cy="1280226"/>
            </a:xfrm>
            <a:custGeom>
              <a:avLst/>
              <a:gdLst/>
              <a:ahLst/>
              <a:cxnLst/>
              <a:rect l="l" t="t" r="r" b="b"/>
              <a:pathLst>
                <a:path w="2648971" h="1280226">
                  <a:moveTo>
                    <a:pt x="6158" y="0"/>
                  </a:moveTo>
                  <a:lnTo>
                    <a:pt x="2642813" y="0"/>
                  </a:lnTo>
                  <a:cubicBezTo>
                    <a:pt x="2644446" y="0"/>
                    <a:pt x="2646012" y="649"/>
                    <a:pt x="2647167" y="1804"/>
                  </a:cubicBezTo>
                  <a:cubicBezTo>
                    <a:pt x="2648322" y="2958"/>
                    <a:pt x="2648971" y="4525"/>
                    <a:pt x="2648971" y="6158"/>
                  </a:cubicBezTo>
                  <a:lnTo>
                    <a:pt x="2648971" y="1274068"/>
                  </a:lnTo>
                  <a:cubicBezTo>
                    <a:pt x="2648971" y="1275702"/>
                    <a:pt x="2648322" y="1277268"/>
                    <a:pt x="2647167" y="1278423"/>
                  </a:cubicBezTo>
                  <a:cubicBezTo>
                    <a:pt x="2646012" y="1279578"/>
                    <a:pt x="2644446" y="1280226"/>
                    <a:pt x="2642813" y="1280226"/>
                  </a:cubicBezTo>
                  <a:lnTo>
                    <a:pt x="6158" y="1280226"/>
                  </a:lnTo>
                  <a:cubicBezTo>
                    <a:pt x="2757" y="1280226"/>
                    <a:pt x="0" y="1277469"/>
                    <a:pt x="0" y="1274068"/>
                  </a:cubicBezTo>
                  <a:lnTo>
                    <a:pt x="0" y="6158"/>
                  </a:lnTo>
                  <a:cubicBezTo>
                    <a:pt x="0" y="4525"/>
                    <a:pt x="649" y="2958"/>
                    <a:pt x="1804" y="1804"/>
                  </a:cubicBezTo>
                  <a:cubicBezTo>
                    <a:pt x="2958" y="649"/>
                    <a:pt x="4525" y="0"/>
                    <a:pt x="6158" y="0"/>
                  </a:cubicBezTo>
                  <a:close/>
                </a:path>
              </a:pathLst>
            </a:custGeom>
            <a:solidFill>
              <a:srgbClr val="FBF6F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648971" cy="13183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31027" y="6880225"/>
            <a:ext cx="16272682" cy="2876248"/>
            <a:chOff x="0" y="0"/>
            <a:chExt cx="4285809" cy="7575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85809" cy="757530"/>
            </a:xfrm>
            <a:custGeom>
              <a:avLst/>
              <a:gdLst/>
              <a:ahLst/>
              <a:cxnLst/>
              <a:rect l="l" t="t" r="r" b="b"/>
              <a:pathLst>
                <a:path w="4285809" h="757530">
                  <a:moveTo>
                    <a:pt x="3806" y="0"/>
                  </a:moveTo>
                  <a:lnTo>
                    <a:pt x="4282003" y="0"/>
                  </a:lnTo>
                  <a:cubicBezTo>
                    <a:pt x="4284105" y="0"/>
                    <a:pt x="4285809" y="1704"/>
                    <a:pt x="4285809" y="3806"/>
                  </a:cubicBezTo>
                  <a:lnTo>
                    <a:pt x="4285809" y="753724"/>
                  </a:lnTo>
                  <a:cubicBezTo>
                    <a:pt x="4285809" y="755826"/>
                    <a:pt x="4284105" y="757530"/>
                    <a:pt x="4282003" y="757530"/>
                  </a:cubicBezTo>
                  <a:lnTo>
                    <a:pt x="3806" y="757530"/>
                  </a:lnTo>
                  <a:cubicBezTo>
                    <a:pt x="1704" y="757530"/>
                    <a:pt x="0" y="755826"/>
                    <a:pt x="0" y="753724"/>
                  </a:cubicBezTo>
                  <a:lnTo>
                    <a:pt x="0" y="3806"/>
                  </a:lnTo>
                  <a:cubicBezTo>
                    <a:pt x="0" y="1704"/>
                    <a:pt x="1704" y="0"/>
                    <a:pt x="3806" y="0"/>
                  </a:cubicBezTo>
                  <a:close/>
                </a:path>
              </a:pathLst>
            </a:custGeom>
            <a:solidFill>
              <a:srgbClr val="FBF6F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285809" cy="795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594840" y="184075"/>
            <a:ext cx="7542352" cy="6039130"/>
          </a:xfrm>
          <a:custGeom>
            <a:avLst/>
            <a:gdLst/>
            <a:ahLst/>
            <a:cxnLst/>
            <a:rect l="l" t="t" r="r" b="b"/>
            <a:pathLst>
              <a:path w="7542352" h="6039130">
                <a:moveTo>
                  <a:pt x="0" y="0"/>
                </a:moveTo>
                <a:lnTo>
                  <a:pt x="7542352" y="0"/>
                </a:lnTo>
                <a:lnTo>
                  <a:pt x="7542352" y="6039130"/>
                </a:lnTo>
                <a:lnTo>
                  <a:pt x="0" y="60391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93"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  <p:sp>
        <p:nvSpPr>
          <p:cNvPr id="9" name="TextBox 9"/>
          <p:cNvSpPr txBox="1"/>
          <p:nvPr/>
        </p:nvSpPr>
        <p:spPr>
          <a:xfrm>
            <a:off x="431027" y="711265"/>
            <a:ext cx="9334861" cy="490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b="1" spc="-18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Type de graphique : </a:t>
            </a:r>
            <a:r>
              <a:rPr lang="en-US" sz="3999" spc="-18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heatmap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b="1" spc="-18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Pertinence :</a:t>
            </a:r>
            <a:r>
              <a:rPr lang="en-US" sz="3999" spc="-18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passage d’une analyse descriptive à explicative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b="1" spc="-18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Éléments analysés : </a:t>
            </a:r>
            <a:r>
              <a:rPr lang="en-US" sz="3999" spc="-18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les coefficients de corrélation entre chaque paire de variables</a:t>
            </a:r>
          </a:p>
          <a:p>
            <a:pPr algn="l">
              <a:lnSpc>
                <a:spcPts val="5599"/>
              </a:lnSpc>
            </a:pPr>
            <a:endParaRPr lang="en-US" sz="3999" spc="-183">
              <a:solidFill>
                <a:srgbClr val="000000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54981" y="6971264"/>
            <a:ext cx="15381511" cy="2554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5009" lvl="1" indent="-317504" algn="l">
              <a:lnSpc>
                <a:spcPts val="4117"/>
              </a:lnSpc>
              <a:buFont typeface="Arial"/>
              <a:buChar char="•"/>
            </a:pPr>
            <a:r>
              <a:rPr lang="en-US" sz="2941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L'argent est important </a:t>
            </a:r>
            <a:r>
              <a:rPr lang="en-US" sz="2941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(corrélation 0.72)</a:t>
            </a:r>
            <a:r>
              <a:rPr lang="en-US" sz="2941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.</a:t>
            </a:r>
          </a:p>
          <a:p>
            <a:pPr marL="635009" lvl="1" indent="-317504" algn="l">
              <a:lnSpc>
                <a:spcPts val="4117"/>
              </a:lnSpc>
              <a:buFont typeface="Arial"/>
              <a:buChar char="•"/>
            </a:pPr>
            <a:r>
              <a:rPr lang="en-US" sz="2941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La santé </a:t>
            </a:r>
            <a:r>
              <a:rPr lang="en-US" sz="2941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(corrélation 0.68)</a:t>
            </a:r>
            <a:r>
              <a:rPr lang="en-US" sz="2941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et le soutien social </a:t>
            </a:r>
            <a:r>
              <a:rPr lang="en-US" sz="2941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(corrélation 0.65) </a:t>
            </a:r>
            <a:r>
              <a:rPr lang="en-US" sz="2941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sont des piliers presque aussi forts.</a:t>
            </a:r>
          </a:p>
          <a:p>
            <a:pPr marL="635009" lvl="1" indent="-317504" algn="l">
              <a:lnSpc>
                <a:spcPts val="4117"/>
              </a:lnSpc>
              <a:buFont typeface="Arial"/>
              <a:buChar char="•"/>
            </a:pPr>
            <a:r>
              <a:rPr lang="en-US" sz="2941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Le facteur qui a l’influence la plus faible : perceptions de corruption </a:t>
            </a:r>
            <a:r>
              <a:rPr lang="en-US" sz="2941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(corrélation 0.42)</a:t>
            </a:r>
            <a:r>
              <a:rPr lang="en-US" sz="2941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496120" y="9449655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94774" y="4824413"/>
            <a:ext cx="15141732" cy="847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299"/>
              </a:lnSpc>
            </a:pPr>
            <a:r>
              <a:rPr lang="en-US" sz="6999" b="1" spc="-321">
                <a:solidFill>
                  <a:srgbClr val="8C52FF"/>
                </a:solidFill>
                <a:latin typeface="TT Fors Bold"/>
                <a:ea typeface="TT Fors Bold"/>
                <a:cs typeface="TT Fors Bold"/>
                <a:sym typeface="TT Fors Bold"/>
              </a:rPr>
              <a:t>KPI 5 : Écart Top 10 vs Bottom 10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496120" y="9449655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4165" y="152083"/>
            <a:ext cx="7905213" cy="6066088"/>
          </a:xfrm>
          <a:custGeom>
            <a:avLst/>
            <a:gdLst/>
            <a:ahLst/>
            <a:cxnLst/>
            <a:rect l="l" t="t" r="r" b="b"/>
            <a:pathLst>
              <a:path w="7905213" h="6066088">
                <a:moveTo>
                  <a:pt x="0" y="0"/>
                </a:moveTo>
                <a:lnTo>
                  <a:pt x="7905213" y="0"/>
                </a:lnTo>
                <a:lnTo>
                  <a:pt x="7905213" y="6066087"/>
                </a:lnTo>
                <a:lnTo>
                  <a:pt x="0" y="60660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32" r="-2512"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8333542" y="1401960"/>
            <a:ext cx="9701097" cy="3899110"/>
            <a:chOff x="0" y="0"/>
            <a:chExt cx="2555021" cy="10269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55021" cy="1026926"/>
            </a:xfrm>
            <a:custGeom>
              <a:avLst/>
              <a:gdLst/>
              <a:ahLst/>
              <a:cxnLst/>
              <a:rect l="l" t="t" r="r" b="b"/>
              <a:pathLst>
                <a:path w="2555021" h="1026926">
                  <a:moveTo>
                    <a:pt x="6384" y="0"/>
                  </a:moveTo>
                  <a:lnTo>
                    <a:pt x="2548637" y="0"/>
                  </a:lnTo>
                  <a:cubicBezTo>
                    <a:pt x="2552163" y="0"/>
                    <a:pt x="2555021" y="2858"/>
                    <a:pt x="2555021" y="6384"/>
                  </a:cubicBezTo>
                  <a:lnTo>
                    <a:pt x="2555021" y="1020542"/>
                  </a:lnTo>
                  <a:cubicBezTo>
                    <a:pt x="2555021" y="1024068"/>
                    <a:pt x="2552163" y="1026926"/>
                    <a:pt x="2548637" y="1026926"/>
                  </a:cubicBezTo>
                  <a:lnTo>
                    <a:pt x="6384" y="1026926"/>
                  </a:lnTo>
                  <a:cubicBezTo>
                    <a:pt x="2858" y="1026926"/>
                    <a:pt x="0" y="1024068"/>
                    <a:pt x="0" y="1020542"/>
                  </a:cubicBezTo>
                  <a:lnTo>
                    <a:pt x="0" y="6384"/>
                  </a:lnTo>
                  <a:cubicBezTo>
                    <a:pt x="0" y="2858"/>
                    <a:pt x="2858" y="0"/>
                    <a:pt x="6384" y="0"/>
                  </a:cubicBezTo>
                  <a:close/>
                </a:path>
              </a:pathLst>
            </a:custGeom>
            <a:solidFill>
              <a:srgbClr val="FBF6F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555021" cy="10650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507415" y="1498902"/>
            <a:ext cx="9353352" cy="3562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1" lvl="1" indent="-377820" algn="l">
              <a:lnSpc>
                <a:spcPts val="5774"/>
              </a:lnSpc>
              <a:buFont typeface="Arial"/>
              <a:buChar char="•"/>
            </a:pPr>
            <a:r>
              <a:rPr lang="en-US" sz="34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Type de graphique : </a:t>
            </a:r>
            <a:r>
              <a:rPr lang="en-US" sz="34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bar chart</a:t>
            </a:r>
          </a:p>
          <a:p>
            <a:pPr marL="755641" lvl="1" indent="-377820" algn="l">
              <a:lnSpc>
                <a:spcPts val="5774"/>
              </a:lnSpc>
              <a:buFont typeface="Arial"/>
              <a:buChar char="•"/>
            </a:pPr>
            <a:r>
              <a:rPr lang="en-US" sz="34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Axe X :</a:t>
            </a:r>
            <a:r>
              <a:rPr lang="en-US" sz="34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Top 10 vs Bottom 10 countries</a:t>
            </a:r>
          </a:p>
          <a:p>
            <a:pPr marL="755641" lvl="1" indent="-377820" algn="l">
              <a:lnSpc>
                <a:spcPts val="5774"/>
              </a:lnSpc>
              <a:buFont typeface="Arial"/>
              <a:buChar char="•"/>
            </a:pPr>
            <a:r>
              <a:rPr lang="en-US" sz="34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Axe Y :</a:t>
            </a:r>
            <a:r>
              <a:rPr lang="en-US" sz="34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Moyenne du score de bonheur</a:t>
            </a:r>
          </a:p>
          <a:p>
            <a:pPr marL="755641" lvl="1" indent="-377820" algn="l">
              <a:lnSpc>
                <a:spcPts val="5774"/>
              </a:lnSpc>
              <a:buFont typeface="Arial"/>
              <a:buChar char="•"/>
            </a:pPr>
            <a:r>
              <a:rPr lang="en-US" sz="34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Pertinence :</a:t>
            </a:r>
            <a:r>
              <a:rPr lang="en-US" sz="34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visualisation orientée aide à la décision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369608" y="6291759"/>
            <a:ext cx="15703175" cy="3471683"/>
            <a:chOff x="0" y="-144149"/>
            <a:chExt cx="4135816" cy="8289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95153" cy="609892"/>
            </a:xfrm>
            <a:custGeom>
              <a:avLst/>
              <a:gdLst/>
              <a:ahLst/>
              <a:cxnLst/>
              <a:rect l="l" t="t" r="r" b="b"/>
              <a:pathLst>
                <a:path w="4095153" h="609892">
                  <a:moveTo>
                    <a:pt x="3983" y="0"/>
                  </a:moveTo>
                  <a:lnTo>
                    <a:pt x="4091169" y="0"/>
                  </a:lnTo>
                  <a:cubicBezTo>
                    <a:pt x="4093370" y="0"/>
                    <a:pt x="4095153" y="1783"/>
                    <a:pt x="4095153" y="3983"/>
                  </a:cubicBezTo>
                  <a:lnTo>
                    <a:pt x="4095153" y="605909"/>
                  </a:lnTo>
                  <a:cubicBezTo>
                    <a:pt x="4095153" y="606965"/>
                    <a:pt x="4094733" y="607978"/>
                    <a:pt x="4093986" y="608725"/>
                  </a:cubicBezTo>
                  <a:cubicBezTo>
                    <a:pt x="4093239" y="609472"/>
                    <a:pt x="4092226" y="609892"/>
                    <a:pt x="4091169" y="609892"/>
                  </a:cubicBezTo>
                  <a:lnTo>
                    <a:pt x="3983" y="609892"/>
                  </a:lnTo>
                  <a:cubicBezTo>
                    <a:pt x="1783" y="609892"/>
                    <a:pt x="0" y="608108"/>
                    <a:pt x="0" y="605909"/>
                  </a:cubicBezTo>
                  <a:lnTo>
                    <a:pt x="0" y="3983"/>
                  </a:lnTo>
                  <a:cubicBezTo>
                    <a:pt x="0" y="2927"/>
                    <a:pt x="420" y="1914"/>
                    <a:pt x="1167" y="1167"/>
                  </a:cubicBezTo>
                  <a:cubicBezTo>
                    <a:pt x="1914" y="420"/>
                    <a:pt x="2927" y="0"/>
                    <a:pt x="3983" y="0"/>
                  </a:cubicBezTo>
                  <a:close/>
                </a:path>
              </a:pathLst>
            </a:custGeom>
            <a:solidFill>
              <a:srgbClr val="FBF6F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0663" y="-144149"/>
              <a:ext cx="4095153" cy="8289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647694" lvl="1" indent="-323847" algn="l">
                <a:lnSpc>
                  <a:spcPts val="5999"/>
                </a:lnSpc>
                <a:buFont typeface="Arial"/>
                <a:buChar char="•"/>
              </a:pPr>
              <a:r>
                <a:rPr lang="en-US" sz="29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Le score </a:t>
              </a:r>
              <a:r>
                <a:rPr lang="en-US" sz="29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moyen</a:t>
              </a:r>
              <a:r>
                <a:rPr lang="en-US" sz="29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du </a:t>
              </a:r>
              <a:r>
                <a:rPr lang="en-US" sz="2999" b="1" dirty="0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Top 10</a:t>
              </a:r>
              <a:r>
                <a:rPr lang="en-US" sz="29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9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est</a:t>
              </a:r>
              <a:r>
                <a:rPr lang="en-US" sz="29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plus du double de </a:t>
              </a:r>
              <a:r>
                <a:rPr lang="en-US" sz="29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celui</a:t>
              </a:r>
              <a:r>
                <a:rPr lang="en-US" sz="29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du </a:t>
              </a:r>
              <a:r>
                <a:rPr lang="en-US" sz="2999" b="1" dirty="0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Bottom 10</a:t>
              </a:r>
              <a:r>
                <a:rPr lang="en-US" sz="29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.</a:t>
              </a:r>
            </a:p>
            <a:p>
              <a:pPr marL="647694" lvl="1" indent="-323847" algn="l">
                <a:lnSpc>
                  <a:spcPts val="5999"/>
                </a:lnSpc>
                <a:buFont typeface="Arial"/>
                <a:buChar char="•"/>
              </a:pPr>
              <a:r>
                <a:rPr lang="en-US" sz="29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L’écart</a:t>
              </a:r>
              <a:r>
                <a:rPr lang="en-US" sz="29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9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observé</a:t>
              </a:r>
              <a:r>
                <a:rPr lang="en-US" sz="29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9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est</a:t>
              </a:r>
              <a:r>
                <a:rPr lang="en-US" sz="29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important et </a:t>
              </a:r>
              <a:r>
                <a:rPr lang="en-US" sz="29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structurel</a:t>
              </a:r>
              <a:r>
                <a:rPr lang="en-US" sz="29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.</a:t>
              </a:r>
            </a:p>
            <a:p>
              <a:pPr marL="647694" lvl="1" indent="-323847" algn="l">
                <a:lnSpc>
                  <a:spcPts val="5999"/>
                </a:lnSpc>
                <a:buFont typeface="Arial"/>
                <a:buChar char="•"/>
              </a:pPr>
              <a:r>
                <a:rPr lang="en-US" sz="29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Cette</a:t>
              </a:r>
              <a:r>
                <a:rPr lang="en-US" sz="29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9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différence</a:t>
              </a:r>
              <a:r>
                <a:rPr lang="en-US" sz="29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met </a:t>
              </a:r>
              <a:r>
                <a:rPr lang="en-US" sz="29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en</a:t>
              </a:r>
              <a:r>
                <a:rPr lang="en-US" sz="29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9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évidence</a:t>
              </a:r>
              <a:r>
                <a:rPr lang="en-US" sz="29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un </a:t>
              </a:r>
              <a:r>
                <a:rPr lang="en-US" sz="29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déséquilibre</a:t>
              </a:r>
              <a:r>
                <a:rPr lang="en-US" sz="29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9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profond</a:t>
              </a:r>
              <a:r>
                <a:rPr lang="en-US" sz="29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de bien-</a:t>
              </a:r>
              <a:r>
                <a:rPr lang="en-US" sz="29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être</a:t>
              </a:r>
              <a:r>
                <a:rPr lang="en-US" sz="29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.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496120" y="9449655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92073" y="209229"/>
            <a:ext cx="9506976" cy="5816736"/>
          </a:xfrm>
          <a:custGeom>
            <a:avLst/>
            <a:gdLst/>
            <a:ahLst/>
            <a:cxnLst/>
            <a:rect l="l" t="t" r="r" b="b"/>
            <a:pathLst>
              <a:path w="9506976" h="5816736">
                <a:moveTo>
                  <a:pt x="0" y="0"/>
                </a:moveTo>
                <a:lnTo>
                  <a:pt x="9506976" y="0"/>
                </a:lnTo>
                <a:lnTo>
                  <a:pt x="9506976" y="5816735"/>
                </a:lnTo>
                <a:lnTo>
                  <a:pt x="0" y="58167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6" r="-986"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173319" y="546879"/>
            <a:ext cx="8242313" cy="5163945"/>
            <a:chOff x="0" y="0"/>
            <a:chExt cx="2170815" cy="136005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70815" cy="1360051"/>
            </a:xfrm>
            <a:custGeom>
              <a:avLst/>
              <a:gdLst/>
              <a:ahLst/>
              <a:cxnLst/>
              <a:rect l="l" t="t" r="r" b="b"/>
              <a:pathLst>
                <a:path w="2170815" h="1360051">
                  <a:moveTo>
                    <a:pt x="7514" y="0"/>
                  </a:moveTo>
                  <a:lnTo>
                    <a:pt x="2163301" y="0"/>
                  </a:lnTo>
                  <a:cubicBezTo>
                    <a:pt x="2167451" y="0"/>
                    <a:pt x="2170815" y="3364"/>
                    <a:pt x="2170815" y="7514"/>
                  </a:cubicBezTo>
                  <a:lnTo>
                    <a:pt x="2170815" y="1352537"/>
                  </a:lnTo>
                  <a:cubicBezTo>
                    <a:pt x="2170815" y="1354530"/>
                    <a:pt x="2170023" y="1356441"/>
                    <a:pt x="2168614" y="1357850"/>
                  </a:cubicBezTo>
                  <a:cubicBezTo>
                    <a:pt x="2167205" y="1359260"/>
                    <a:pt x="2165294" y="1360051"/>
                    <a:pt x="2163301" y="1360051"/>
                  </a:cubicBezTo>
                  <a:lnTo>
                    <a:pt x="7514" y="1360051"/>
                  </a:lnTo>
                  <a:cubicBezTo>
                    <a:pt x="3364" y="1360051"/>
                    <a:pt x="0" y="1356687"/>
                    <a:pt x="0" y="1352537"/>
                  </a:cubicBezTo>
                  <a:lnTo>
                    <a:pt x="0" y="7514"/>
                  </a:lnTo>
                  <a:cubicBezTo>
                    <a:pt x="0" y="3364"/>
                    <a:pt x="3364" y="0"/>
                    <a:pt x="7514" y="0"/>
                  </a:cubicBezTo>
                  <a:close/>
                </a:path>
              </a:pathLst>
            </a:custGeom>
            <a:solidFill>
              <a:srgbClr val="D3CBF9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170815" cy="13981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45341" y="628396"/>
            <a:ext cx="7898268" cy="4921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4" lvl="1" indent="-377822" algn="l">
              <a:lnSpc>
                <a:spcPts val="4899"/>
              </a:lnSpc>
              <a:buFont typeface="Arial"/>
              <a:buChar char="•"/>
            </a:pPr>
            <a:r>
              <a:rPr lang="en-US" sz="3499" b="1" spc="-16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Type de graphique : </a:t>
            </a:r>
            <a:r>
              <a:rPr lang="en-US" sz="3499" spc="-16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range plot</a:t>
            </a:r>
          </a:p>
          <a:p>
            <a:pPr marL="755644" lvl="1" indent="-377822" algn="l">
              <a:lnSpc>
                <a:spcPts val="4899"/>
              </a:lnSpc>
              <a:buFont typeface="Arial"/>
              <a:buChar char="•"/>
            </a:pPr>
            <a:r>
              <a:rPr lang="en-US" sz="3499" b="1" spc="-16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Axe X :</a:t>
            </a:r>
            <a:r>
              <a:rPr lang="en-US" sz="3499" spc="-16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Score de bonheur</a:t>
            </a:r>
          </a:p>
          <a:p>
            <a:pPr marL="755644" lvl="1" indent="-377822" algn="l">
              <a:lnSpc>
                <a:spcPts val="4899"/>
              </a:lnSpc>
              <a:buFont typeface="Arial"/>
              <a:buChar char="•"/>
            </a:pPr>
            <a:r>
              <a:rPr lang="en-US" sz="3499" b="1" spc="-16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Axe Y :</a:t>
            </a:r>
            <a:r>
              <a:rPr lang="en-US" sz="3499" spc="-16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Pays</a:t>
            </a:r>
          </a:p>
          <a:p>
            <a:pPr marL="755644" lvl="1" indent="-377822" algn="l">
              <a:lnSpc>
                <a:spcPts val="4899"/>
              </a:lnSpc>
              <a:buFont typeface="Arial"/>
              <a:buChar char="•"/>
            </a:pPr>
            <a:r>
              <a:rPr lang="en-US" sz="3499" b="1" spc="-16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Pertinence :</a:t>
            </a:r>
            <a:r>
              <a:rPr lang="en-US" sz="3499" spc="-16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lecture fine et détaillée des inégalités extrêmes</a:t>
            </a:r>
          </a:p>
          <a:p>
            <a:pPr marL="755644" lvl="1" indent="-377822" algn="l">
              <a:lnSpc>
                <a:spcPts val="4899"/>
              </a:lnSpc>
              <a:buFont typeface="Arial"/>
              <a:buChar char="•"/>
            </a:pPr>
            <a:r>
              <a:rPr lang="en-US" sz="3499" b="1" spc="-16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Deux groupes analysés :</a:t>
            </a:r>
          </a:p>
          <a:p>
            <a:pPr algn="l">
              <a:lnSpc>
                <a:spcPts val="4899"/>
              </a:lnSpc>
            </a:pPr>
            <a:r>
              <a:rPr lang="en-US" sz="3499" spc="-16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      Top 10 pays les plus heureux</a:t>
            </a:r>
          </a:p>
          <a:p>
            <a:pPr algn="l">
              <a:lnSpc>
                <a:spcPts val="4899"/>
              </a:lnSpc>
            </a:pPr>
            <a:r>
              <a:rPr lang="en-US" sz="3499" spc="-16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      Bottom 10 pays les moins heureux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546739" y="6552222"/>
            <a:ext cx="13194521" cy="3201299"/>
            <a:chOff x="0" y="0"/>
            <a:chExt cx="3475100" cy="8431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75100" cy="843140"/>
            </a:xfrm>
            <a:custGeom>
              <a:avLst/>
              <a:gdLst/>
              <a:ahLst/>
              <a:cxnLst/>
              <a:rect l="l" t="t" r="r" b="b"/>
              <a:pathLst>
                <a:path w="3475100" h="843140">
                  <a:moveTo>
                    <a:pt x="4694" y="0"/>
                  </a:moveTo>
                  <a:lnTo>
                    <a:pt x="3470406" y="0"/>
                  </a:lnTo>
                  <a:cubicBezTo>
                    <a:pt x="3471651" y="0"/>
                    <a:pt x="3472845" y="495"/>
                    <a:pt x="3473726" y="1375"/>
                  </a:cubicBezTo>
                  <a:cubicBezTo>
                    <a:pt x="3474606" y="2255"/>
                    <a:pt x="3475100" y="3449"/>
                    <a:pt x="3475100" y="4694"/>
                  </a:cubicBezTo>
                  <a:lnTo>
                    <a:pt x="3475100" y="838446"/>
                  </a:lnTo>
                  <a:cubicBezTo>
                    <a:pt x="3475100" y="841039"/>
                    <a:pt x="3472999" y="843140"/>
                    <a:pt x="3470406" y="843140"/>
                  </a:cubicBezTo>
                  <a:lnTo>
                    <a:pt x="4694" y="843140"/>
                  </a:lnTo>
                  <a:cubicBezTo>
                    <a:pt x="2102" y="843140"/>
                    <a:pt x="0" y="841039"/>
                    <a:pt x="0" y="838446"/>
                  </a:cubicBezTo>
                  <a:lnTo>
                    <a:pt x="0" y="4694"/>
                  </a:lnTo>
                  <a:cubicBezTo>
                    <a:pt x="0" y="2102"/>
                    <a:pt x="2102" y="0"/>
                    <a:pt x="4694" y="0"/>
                  </a:cubicBezTo>
                  <a:close/>
                </a:path>
              </a:pathLst>
            </a:custGeom>
            <a:solidFill>
              <a:srgbClr val="D3CBF9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475100" cy="8812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546739" y="6581245"/>
            <a:ext cx="13194521" cy="2924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4" lvl="1" indent="-323847" algn="l">
              <a:lnSpc>
                <a:spcPts val="59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Les pays du </a:t>
            </a:r>
            <a:r>
              <a:rPr lang="en-US" sz="29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Top 10</a:t>
            </a:r>
            <a:r>
              <a:rPr lang="en-US" sz="29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présentent des scores concentrés autour de valeurs élevées </a:t>
            </a:r>
            <a:r>
              <a:rPr lang="en-US" sz="29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(≈ 7 à 7,6)</a:t>
            </a:r>
            <a:r>
              <a:rPr lang="en-US" sz="29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.</a:t>
            </a:r>
          </a:p>
          <a:p>
            <a:pPr marL="647694" lvl="1" indent="-323847" algn="l">
              <a:lnSpc>
                <a:spcPts val="59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Les pays du </a:t>
            </a:r>
            <a:r>
              <a:rPr lang="en-US" sz="29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Bottom 10 </a:t>
            </a:r>
            <a:r>
              <a:rPr lang="en-US" sz="29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affichent des scores très faibles </a:t>
            </a:r>
            <a:r>
              <a:rPr lang="en-US" sz="29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(≈ 3 à 4)</a:t>
            </a:r>
            <a:r>
              <a:rPr lang="en-US" sz="29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.</a:t>
            </a:r>
          </a:p>
          <a:p>
            <a:pPr marL="647694" lvl="1" indent="-323847" algn="l">
              <a:lnSpc>
                <a:spcPts val="59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Il existe une séparation visuelle nette entre les deux groupes.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496120" y="9449655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55202" y="4194175"/>
            <a:ext cx="12794397" cy="17311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b="1" dirty="0" err="1">
                <a:solidFill>
                  <a:srgbClr val="B595CC"/>
                </a:solidFill>
                <a:latin typeface="TT Fors Bold"/>
                <a:ea typeface="TT Fors Bold"/>
                <a:cs typeface="TT Fors Bold"/>
                <a:sym typeface="TT Fors Bold"/>
              </a:rPr>
              <a:t>Recommandations</a:t>
            </a:r>
            <a:endParaRPr lang="en-US" sz="9999" b="1" dirty="0">
              <a:solidFill>
                <a:srgbClr val="B595CC"/>
              </a:solidFill>
              <a:latin typeface="TT Fors Bold"/>
              <a:ea typeface="TT Fors Bold"/>
              <a:cs typeface="TT Fors Bold"/>
              <a:sym typeface="TT For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7496120" y="9449655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9658433" y="5327292"/>
            <a:ext cx="3397158" cy="1905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" name="AutoShape 3"/>
          <p:cNvSpPr/>
          <p:nvPr/>
        </p:nvSpPr>
        <p:spPr>
          <a:xfrm flipV="1">
            <a:off x="9658300" y="1949668"/>
            <a:ext cx="3476088" cy="1905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4" name="Group 4"/>
          <p:cNvGrpSpPr/>
          <p:nvPr/>
        </p:nvGrpSpPr>
        <p:grpSpPr>
          <a:xfrm>
            <a:off x="13404509" y="1158414"/>
            <a:ext cx="2704843" cy="1503406"/>
            <a:chOff x="0" y="-53534"/>
            <a:chExt cx="712387" cy="3959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12387" cy="319759"/>
            </a:xfrm>
            <a:custGeom>
              <a:avLst/>
              <a:gdLst/>
              <a:ahLst/>
              <a:cxnLst/>
              <a:rect l="l" t="t" r="r" b="b"/>
              <a:pathLst>
                <a:path w="712387" h="319759">
                  <a:moveTo>
                    <a:pt x="22898" y="0"/>
                  </a:moveTo>
                  <a:lnTo>
                    <a:pt x="689489" y="0"/>
                  </a:lnTo>
                  <a:cubicBezTo>
                    <a:pt x="702135" y="0"/>
                    <a:pt x="712387" y="10252"/>
                    <a:pt x="712387" y="22898"/>
                  </a:cubicBezTo>
                  <a:lnTo>
                    <a:pt x="712387" y="296861"/>
                  </a:lnTo>
                  <a:cubicBezTo>
                    <a:pt x="712387" y="309507"/>
                    <a:pt x="702135" y="319759"/>
                    <a:pt x="689489" y="319759"/>
                  </a:cubicBezTo>
                  <a:lnTo>
                    <a:pt x="22898" y="319759"/>
                  </a:lnTo>
                  <a:cubicBezTo>
                    <a:pt x="10252" y="319759"/>
                    <a:pt x="0" y="309507"/>
                    <a:pt x="0" y="296861"/>
                  </a:cubicBezTo>
                  <a:lnTo>
                    <a:pt x="0" y="22898"/>
                  </a:lnTo>
                  <a:cubicBezTo>
                    <a:pt x="0" y="10252"/>
                    <a:pt x="10252" y="0"/>
                    <a:pt x="22898" y="0"/>
                  </a:cubicBezTo>
                  <a:close/>
                </a:path>
              </a:pathLst>
            </a:custGeom>
            <a:solidFill>
              <a:srgbClr val="D3CBF9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53534"/>
              <a:ext cx="712387" cy="3959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sz="3500" b="1" dirty="0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KPI 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16947" y="298382"/>
            <a:ext cx="9322795" cy="3129484"/>
            <a:chOff x="0" y="-35552"/>
            <a:chExt cx="2455386" cy="82422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55386" cy="788674"/>
            </a:xfrm>
            <a:custGeom>
              <a:avLst/>
              <a:gdLst/>
              <a:ahLst/>
              <a:cxnLst/>
              <a:rect l="l" t="t" r="r" b="b"/>
              <a:pathLst>
                <a:path w="2455386" h="788674">
                  <a:moveTo>
                    <a:pt x="6643" y="0"/>
                  </a:moveTo>
                  <a:lnTo>
                    <a:pt x="2448743" y="0"/>
                  </a:lnTo>
                  <a:cubicBezTo>
                    <a:pt x="2452412" y="0"/>
                    <a:pt x="2455386" y="2974"/>
                    <a:pt x="2455386" y="6643"/>
                  </a:cubicBezTo>
                  <a:lnTo>
                    <a:pt x="2455386" y="782031"/>
                  </a:lnTo>
                  <a:cubicBezTo>
                    <a:pt x="2455386" y="785700"/>
                    <a:pt x="2452412" y="788674"/>
                    <a:pt x="2448743" y="788674"/>
                  </a:cubicBezTo>
                  <a:lnTo>
                    <a:pt x="6643" y="788674"/>
                  </a:lnTo>
                  <a:cubicBezTo>
                    <a:pt x="2974" y="788674"/>
                    <a:pt x="0" y="785700"/>
                    <a:pt x="0" y="782031"/>
                  </a:cubicBezTo>
                  <a:lnTo>
                    <a:pt x="0" y="6643"/>
                  </a:lnTo>
                  <a:cubicBezTo>
                    <a:pt x="0" y="2974"/>
                    <a:pt x="2974" y="0"/>
                    <a:pt x="6643" y="0"/>
                  </a:cubicBezTo>
                  <a:close/>
                </a:path>
              </a:pathLst>
            </a:custGeom>
            <a:solidFill>
              <a:srgbClr val="E9C3F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5552"/>
              <a:ext cx="2455386" cy="8242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539749" lvl="1" indent="-269875" algn="l">
                <a:lnSpc>
                  <a:spcPts val="3999"/>
                </a:lnSpc>
                <a:buFont typeface="Arial"/>
                <a:buChar char="•"/>
              </a:pPr>
              <a:r>
                <a:rPr lang="en-US" sz="24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Mettre</a:t>
              </a:r>
              <a:r>
                <a:rPr lang="en-US" sz="24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4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en</a:t>
              </a:r>
              <a:r>
                <a:rPr lang="en-US" sz="24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place un </a:t>
              </a:r>
              <a:r>
                <a:rPr lang="en-US" sz="24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suivi</a:t>
              </a:r>
              <a:r>
                <a:rPr lang="en-US" sz="24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4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automatisé</a:t>
              </a:r>
              <a:r>
                <a:rPr lang="en-US" sz="24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de la dispersion (variance, </a:t>
              </a:r>
              <a:r>
                <a:rPr lang="en-US" sz="24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écart</a:t>
              </a:r>
              <a:r>
                <a:rPr lang="en-US" sz="24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-type).</a:t>
              </a:r>
            </a:p>
            <a:p>
              <a:pPr marL="539749" lvl="1" indent="-269875" algn="l">
                <a:lnSpc>
                  <a:spcPts val="3999"/>
                </a:lnSpc>
                <a:buFont typeface="Arial"/>
                <a:buChar char="•"/>
              </a:pPr>
              <a:r>
                <a:rPr lang="en-US" sz="24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Combiner </a:t>
              </a:r>
              <a:r>
                <a:rPr lang="en-US" sz="24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ces</a:t>
              </a:r>
              <a:r>
                <a:rPr lang="en-US" sz="24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4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indicateurs</a:t>
              </a:r>
              <a:r>
                <a:rPr lang="en-US" sz="24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avec des </a:t>
              </a:r>
              <a:r>
                <a:rPr lang="en-US" sz="24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modèles</a:t>
              </a:r>
              <a:r>
                <a:rPr lang="en-US" sz="24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de </a:t>
              </a:r>
              <a:r>
                <a:rPr lang="en-US" sz="24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prévision</a:t>
              </a:r>
              <a:r>
                <a:rPr lang="en-US" sz="24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(ARIMA).</a:t>
              </a:r>
            </a:p>
            <a:p>
              <a:pPr marL="539749" lvl="1" indent="-269875" algn="l">
                <a:lnSpc>
                  <a:spcPts val="3999"/>
                </a:lnSpc>
                <a:buFont typeface="Arial"/>
                <a:buChar char="•"/>
              </a:pPr>
              <a:r>
                <a:rPr lang="en-US" sz="24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Anticiper</a:t>
              </a:r>
              <a:r>
                <a:rPr lang="en-US" sz="24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les </a:t>
              </a:r>
              <a:r>
                <a:rPr lang="en-US" sz="24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périodes</a:t>
              </a:r>
              <a:r>
                <a:rPr lang="en-US" sz="24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futures de divergence entre pays.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16947" y="3856481"/>
            <a:ext cx="9322795" cy="2893998"/>
            <a:chOff x="0" y="0"/>
            <a:chExt cx="2455386" cy="7622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55386" cy="762205"/>
            </a:xfrm>
            <a:custGeom>
              <a:avLst/>
              <a:gdLst/>
              <a:ahLst/>
              <a:cxnLst/>
              <a:rect l="l" t="t" r="r" b="b"/>
              <a:pathLst>
                <a:path w="2455386" h="762205">
                  <a:moveTo>
                    <a:pt x="6643" y="0"/>
                  </a:moveTo>
                  <a:lnTo>
                    <a:pt x="2448743" y="0"/>
                  </a:lnTo>
                  <a:cubicBezTo>
                    <a:pt x="2452412" y="0"/>
                    <a:pt x="2455386" y="2974"/>
                    <a:pt x="2455386" y="6643"/>
                  </a:cubicBezTo>
                  <a:lnTo>
                    <a:pt x="2455386" y="755562"/>
                  </a:lnTo>
                  <a:cubicBezTo>
                    <a:pt x="2455386" y="759231"/>
                    <a:pt x="2452412" y="762205"/>
                    <a:pt x="2448743" y="762205"/>
                  </a:cubicBezTo>
                  <a:lnTo>
                    <a:pt x="6643" y="762205"/>
                  </a:lnTo>
                  <a:cubicBezTo>
                    <a:pt x="2974" y="762205"/>
                    <a:pt x="0" y="759231"/>
                    <a:pt x="0" y="755562"/>
                  </a:cubicBezTo>
                  <a:lnTo>
                    <a:pt x="0" y="6643"/>
                  </a:lnTo>
                  <a:cubicBezTo>
                    <a:pt x="0" y="2974"/>
                    <a:pt x="2974" y="0"/>
                    <a:pt x="6643" y="0"/>
                  </a:cubicBezTo>
                  <a:close/>
                </a:path>
              </a:pathLst>
            </a:custGeom>
            <a:solidFill>
              <a:srgbClr val="E9C3F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15052"/>
              <a:ext cx="2455386" cy="7471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539749" lvl="1" indent="-269875" algn="l">
                <a:lnSpc>
                  <a:spcPts val="3999"/>
                </a:lnSpc>
                <a:buFont typeface="Arial"/>
                <a:buChar char="•"/>
              </a:pPr>
              <a:r>
                <a:rPr lang="en-US" sz="24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Développer</a:t>
              </a:r>
              <a:r>
                <a:rPr lang="en-US" sz="24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un </a:t>
              </a:r>
              <a:r>
                <a:rPr lang="en-US" sz="24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modèle</a:t>
              </a:r>
              <a:r>
                <a:rPr lang="en-US" sz="24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de classification </a:t>
              </a:r>
              <a:r>
                <a:rPr lang="en-US" sz="24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supervisée</a:t>
              </a:r>
              <a:r>
                <a:rPr lang="en-US" sz="24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.</a:t>
              </a:r>
            </a:p>
            <a:p>
              <a:pPr marL="539749" lvl="1" indent="-269875" algn="l">
                <a:lnSpc>
                  <a:spcPts val="3999"/>
                </a:lnSpc>
                <a:buFont typeface="Arial"/>
                <a:buChar char="•"/>
              </a:pPr>
              <a:r>
                <a:rPr lang="en-US" sz="24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Utiliser</a:t>
              </a:r>
              <a:r>
                <a:rPr lang="en-US" sz="24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le PIB, la santé, le </a:t>
              </a:r>
              <a:r>
                <a:rPr lang="en-US" sz="24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soutien</a:t>
              </a:r>
              <a:r>
                <a:rPr lang="en-US" sz="24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social et la liberté </a:t>
              </a:r>
              <a:r>
                <a:rPr lang="en-US" sz="24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comme</a:t>
              </a:r>
              <a:r>
                <a:rPr lang="en-US" sz="24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variables </a:t>
              </a:r>
              <a:r>
                <a:rPr lang="en-US" sz="24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explicatives</a:t>
              </a:r>
              <a:r>
                <a:rPr lang="en-US" sz="24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.</a:t>
              </a:r>
            </a:p>
            <a:p>
              <a:pPr marL="539749" lvl="1" indent="-269875" algn="l">
                <a:lnSpc>
                  <a:spcPts val="3999"/>
                </a:lnSpc>
                <a:buFont typeface="Arial"/>
                <a:buChar char="•"/>
              </a:pPr>
              <a:r>
                <a:rPr lang="en-US" sz="24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Détecter</a:t>
              </a:r>
              <a:r>
                <a:rPr lang="en-US" sz="24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les pays </a:t>
              </a:r>
              <a:r>
                <a:rPr lang="en-US" sz="24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vulnérables</a:t>
              </a:r>
              <a:r>
                <a:rPr lang="en-US" sz="24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4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avant</a:t>
              </a:r>
              <a:r>
                <a:rPr lang="en-US" sz="24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4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une</a:t>
              </a:r>
              <a:r>
                <a:rPr lang="en-US" sz="24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4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dégradation</a:t>
              </a:r>
              <a:r>
                <a:rPr lang="en-US" sz="24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du bien-</a:t>
              </a:r>
              <a:r>
                <a:rPr lang="en-US" sz="24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être</a:t>
              </a:r>
              <a:r>
                <a:rPr lang="en-US" sz="24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404509" y="4508035"/>
            <a:ext cx="2704843" cy="1503406"/>
            <a:chOff x="0" y="-38100"/>
            <a:chExt cx="712387" cy="39595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12387" cy="319759"/>
            </a:xfrm>
            <a:custGeom>
              <a:avLst/>
              <a:gdLst/>
              <a:ahLst/>
              <a:cxnLst/>
              <a:rect l="l" t="t" r="r" b="b"/>
              <a:pathLst>
                <a:path w="712387" h="319759">
                  <a:moveTo>
                    <a:pt x="22898" y="0"/>
                  </a:moveTo>
                  <a:lnTo>
                    <a:pt x="689489" y="0"/>
                  </a:lnTo>
                  <a:cubicBezTo>
                    <a:pt x="702135" y="0"/>
                    <a:pt x="712387" y="10252"/>
                    <a:pt x="712387" y="22898"/>
                  </a:cubicBezTo>
                  <a:lnTo>
                    <a:pt x="712387" y="296861"/>
                  </a:lnTo>
                  <a:cubicBezTo>
                    <a:pt x="712387" y="309507"/>
                    <a:pt x="702135" y="319759"/>
                    <a:pt x="689489" y="319759"/>
                  </a:cubicBezTo>
                  <a:lnTo>
                    <a:pt x="22898" y="319759"/>
                  </a:lnTo>
                  <a:cubicBezTo>
                    <a:pt x="10252" y="319759"/>
                    <a:pt x="0" y="309507"/>
                    <a:pt x="0" y="296861"/>
                  </a:cubicBezTo>
                  <a:lnTo>
                    <a:pt x="0" y="22898"/>
                  </a:lnTo>
                  <a:cubicBezTo>
                    <a:pt x="0" y="10252"/>
                    <a:pt x="10252" y="0"/>
                    <a:pt x="22898" y="0"/>
                  </a:cubicBezTo>
                  <a:close/>
                </a:path>
              </a:pathLst>
            </a:custGeom>
            <a:solidFill>
              <a:srgbClr val="D3CBF9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712387" cy="3959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sz="3500" b="1" dirty="0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KPI 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00628" y="7018968"/>
            <a:ext cx="9339114" cy="3101681"/>
            <a:chOff x="-4298" y="-47879"/>
            <a:chExt cx="2459684" cy="81690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55386" cy="731180"/>
            </a:xfrm>
            <a:custGeom>
              <a:avLst/>
              <a:gdLst/>
              <a:ahLst/>
              <a:cxnLst/>
              <a:rect l="l" t="t" r="r" b="b"/>
              <a:pathLst>
                <a:path w="2455386" h="731180">
                  <a:moveTo>
                    <a:pt x="6643" y="0"/>
                  </a:moveTo>
                  <a:lnTo>
                    <a:pt x="2448743" y="0"/>
                  </a:lnTo>
                  <a:cubicBezTo>
                    <a:pt x="2452412" y="0"/>
                    <a:pt x="2455386" y="2974"/>
                    <a:pt x="2455386" y="6643"/>
                  </a:cubicBezTo>
                  <a:lnTo>
                    <a:pt x="2455386" y="724536"/>
                  </a:lnTo>
                  <a:cubicBezTo>
                    <a:pt x="2455386" y="728205"/>
                    <a:pt x="2452412" y="731180"/>
                    <a:pt x="2448743" y="731180"/>
                  </a:cubicBezTo>
                  <a:lnTo>
                    <a:pt x="6643" y="731180"/>
                  </a:lnTo>
                  <a:cubicBezTo>
                    <a:pt x="2974" y="731180"/>
                    <a:pt x="0" y="728205"/>
                    <a:pt x="0" y="724536"/>
                  </a:cubicBezTo>
                  <a:lnTo>
                    <a:pt x="0" y="6643"/>
                  </a:lnTo>
                  <a:cubicBezTo>
                    <a:pt x="0" y="2974"/>
                    <a:pt x="2974" y="0"/>
                    <a:pt x="6643" y="0"/>
                  </a:cubicBezTo>
                  <a:close/>
                </a:path>
              </a:pathLst>
            </a:custGeom>
            <a:solidFill>
              <a:srgbClr val="E9C3F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-4298" y="-47879"/>
              <a:ext cx="2455386" cy="8169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539749" lvl="1" indent="-269875" algn="l">
                <a:lnSpc>
                  <a:spcPts val="3999"/>
                </a:lnSpc>
                <a:buFont typeface="Arial"/>
                <a:buChar char="•"/>
              </a:pPr>
              <a:r>
                <a:rPr lang="en-US" sz="24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Appliquer des </a:t>
              </a:r>
              <a:r>
                <a:rPr lang="en-US" sz="24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modèles</a:t>
              </a:r>
              <a:r>
                <a:rPr lang="en-US" sz="24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4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temporels</a:t>
              </a:r>
              <a:r>
                <a:rPr lang="en-US" sz="24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(</a:t>
              </a:r>
              <a:r>
                <a:rPr lang="en-US" sz="24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régression</a:t>
              </a:r>
              <a:r>
                <a:rPr lang="en-US" sz="24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4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multivariée</a:t>
              </a:r>
              <a:r>
                <a:rPr lang="en-US" sz="24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, ARIMA).</a:t>
              </a:r>
            </a:p>
            <a:p>
              <a:pPr marL="539749" lvl="1" indent="-269875" algn="l">
                <a:lnSpc>
                  <a:spcPts val="3999"/>
                </a:lnSpc>
                <a:buFont typeface="Arial"/>
                <a:buChar char="•"/>
              </a:pPr>
              <a:r>
                <a:rPr lang="en-US" sz="24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Analyser</a:t>
              </a:r>
              <a:r>
                <a:rPr lang="en-US" sz="24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la </a:t>
              </a:r>
              <a:r>
                <a:rPr lang="en-US" sz="24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trajectoire</a:t>
              </a:r>
              <a:r>
                <a:rPr lang="en-US" sz="24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du bonheur par pays et par </a:t>
              </a:r>
              <a:r>
                <a:rPr lang="en-US" sz="24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région</a:t>
              </a:r>
              <a:r>
                <a:rPr lang="en-US" sz="24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.</a:t>
              </a:r>
            </a:p>
            <a:p>
              <a:pPr marL="539749" lvl="1" indent="-269875" algn="l">
                <a:lnSpc>
                  <a:spcPts val="3999"/>
                </a:lnSpc>
                <a:buFont typeface="Arial"/>
                <a:buChar char="•"/>
              </a:pPr>
              <a:r>
                <a:rPr lang="en-US" sz="24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Anticiper</a:t>
              </a:r>
              <a:r>
                <a:rPr lang="en-US" sz="24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les </a:t>
              </a:r>
              <a:r>
                <a:rPr lang="en-US" sz="24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retournements</a:t>
              </a:r>
              <a:r>
                <a:rPr lang="en-US" sz="24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de tendance </a:t>
              </a:r>
              <a:r>
                <a:rPr lang="en-US" sz="2499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observés</a:t>
              </a:r>
              <a:r>
                <a:rPr lang="en-US" sz="2499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après 2023.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9658485" y="8593620"/>
            <a:ext cx="3475903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0" name="Group 20"/>
          <p:cNvGrpSpPr/>
          <p:nvPr/>
        </p:nvGrpSpPr>
        <p:grpSpPr>
          <a:xfrm>
            <a:off x="13372555" y="7818105"/>
            <a:ext cx="2753116" cy="1503406"/>
            <a:chOff x="-12714" y="-43117"/>
            <a:chExt cx="725101" cy="39595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12387" cy="319759"/>
            </a:xfrm>
            <a:custGeom>
              <a:avLst/>
              <a:gdLst/>
              <a:ahLst/>
              <a:cxnLst/>
              <a:rect l="l" t="t" r="r" b="b"/>
              <a:pathLst>
                <a:path w="712387" h="319759">
                  <a:moveTo>
                    <a:pt x="22898" y="0"/>
                  </a:moveTo>
                  <a:lnTo>
                    <a:pt x="689489" y="0"/>
                  </a:lnTo>
                  <a:cubicBezTo>
                    <a:pt x="702135" y="0"/>
                    <a:pt x="712387" y="10252"/>
                    <a:pt x="712387" y="22898"/>
                  </a:cubicBezTo>
                  <a:lnTo>
                    <a:pt x="712387" y="296861"/>
                  </a:lnTo>
                  <a:cubicBezTo>
                    <a:pt x="712387" y="309507"/>
                    <a:pt x="702135" y="319759"/>
                    <a:pt x="689489" y="319759"/>
                  </a:cubicBezTo>
                  <a:lnTo>
                    <a:pt x="22898" y="319759"/>
                  </a:lnTo>
                  <a:cubicBezTo>
                    <a:pt x="10252" y="319759"/>
                    <a:pt x="0" y="309507"/>
                    <a:pt x="0" y="296861"/>
                  </a:cubicBezTo>
                  <a:lnTo>
                    <a:pt x="0" y="22898"/>
                  </a:lnTo>
                  <a:cubicBezTo>
                    <a:pt x="0" y="10252"/>
                    <a:pt x="10252" y="0"/>
                    <a:pt x="22898" y="0"/>
                  </a:cubicBezTo>
                  <a:close/>
                </a:path>
              </a:pathLst>
            </a:custGeom>
            <a:solidFill>
              <a:srgbClr val="D3CBF9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-12714" y="-43117"/>
              <a:ext cx="712387" cy="3959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sz="3500" b="1" dirty="0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KPI 3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7496120" y="9449655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4954" y="4275058"/>
            <a:ext cx="9322793" cy="3841571"/>
            <a:chOff x="0" y="-29006"/>
            <a:chExt cx="2455386" cy="10117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55386" cy="954622"/>
            </a:xfrm>
            <a:custGeom>
              <a:avLst/>
              <a:gdLst/>
              <a:ahLst/>
              <a:cxnLst/>
              <a:rect l="l" t="t" r="r" b="b"/>
              <a:pathLst>
                <a:path w="2455386" h="954622">
                  <a:moveTo>
                    <a:pt x="6643" y="0"/>
                  </a:moveTo>
                  <a:lnTo>
                    <a:pt x="2448743" y="0"/>
                  </a:lnTo>
                  <a:cubicBezTo>
                    <a:pt x="2452412" y="0"/>
                    <a:pt x="2455386" y="2974"/>
                    <a:pt x="2455386" y="6643"/>
                  </a:cubicBezTo>
                  <a:lnTo>
                    <a:pt x="2455386" y="947979"/>
                  </a:lnTo>
                  <a:cubicBezTo>
                    <a:pt x="2455386" y="951648"/>
                    <a:pt x="2452412" y="954622"/>
                    <a:pt x="2448743" y="954622"/>
                  </a:cubicBezTo>
                  <a:lnTo>
                    <a:pt x="6643" y="954622"/>
                  </a:lnTo>
                  <a:cubicBezTo>
                    <a:pt x="2974" y="954622"/>
                    <a:pt x="0" y="951648"/>
                    <a:pt x="0" y="947979"/>
                  </a:cubicBezTo>
                  <a:lnTo>
                    <a:pt x="0" y="6643"/>
                  </a:lnTo>
                  <a:cubicBezTo>
                    <a:pt x="0" y="2974"/>
                    <a:pt x="2974" y="0"/>
                    <a:pt x="6643" y="0"/>
                  </a:cubicBezTo>
                  <a:close/>
                </a:path>
              </a:pathLst>
            </a:custGeom>
            <a:solidFill>
              <a:srgbClr val="E9C3F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9006"/>
              <a:ext cx="2455386" cy="10117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690881" lvl="1" indent="-345440">
                <a:lnSpc>
                  <a:spcPts val="4480"/>
                </a:lnSpc>
                <a:buFont typeface="Arial"/>
                <a:buChar char="•"/>
              </a:pPr>
              <a:r>
                <a:rPr lang="en-US" sz="3200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Construire</a:t>
              </a:r>
              <a:r>
                <a:rPr lang="en-US" sz="3200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un </a:t>
              </a:r>
              <a:r>
                <a:rPr lang="en-US" sz="3200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modèle</a:t>
              </a:r>
              <a:r>
                <a:rPr lang="en-US" sz="3200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200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prédictif</a:t>
              </a:r>
              <a:r>
                <a:rPr lang="en-US" sz="3200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.</a:t>
              </a:r>
            </a:p>
            <a:p>
              <a:pPr marL="690881" lvl="1" indent="-345440">
                <a:lnSpc>
                  <a:spcPts val="4480"/>
                </a:lnSpc>
                <a:buFont typeface="Arial"/>
                <a:buChar char="•"/>
              </a:pPr>
              <a:r>
                <a:rPr lang="en-US" sz="3200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Simuler</a:t>
              </a:r>
              <a:r>
                <a:rPr lang="en-US" sz="3200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200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l’impact</a:t>
              </a:r>
              <a:r>
                <a:rPr lang="en-US" sz="3200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de </a:t>
              </a:r>
              <a:r>
                <a:rPr lang="en-US" sz="3200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l’amélioration</a:t>
              </a:r>
              <a:r>
                <a:rPr lang="en-US" sz="3200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des </a:t>
              </a:r>
              <a:r>
                <a:rPr lang="en-US" sz="3200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facteurs</a:t>
              </a:r>
              <a:r>
                <a:rPr lang="en-US" sz="3200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200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clés</a:t>
              </a:r>
              <a:r>
                <a:rPr lang="en-US" sz="3200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dans les pays les </a:t>
              </a:r>
              <a:r>
                <a:rPr lang="en-US" sz="3200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moins</a:t>
              </a:r>
              <a:r>
                <a:rPr lang="en-US" sz="3200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200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heureux</a:t>
              </a:r>
              <a:r>
                <a:rPr lang="en-US" sz="3200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.</a:t>
              </a:r>
            </a:p>
            <a:p>
              <a:pPr marL="690881" lvl="1" indent="-345440">
                <a:lnSpc>
                  <a:spcPts val="44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200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Quantifier la </a:t>
              </a:r>
              <a:r>
                <a:rPr lang="en-US" sz="3200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réduction</a:t>
              </a:r>
              <a:r>
                <a:rPr lang="en-US" sz="3200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200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potentielle</a:t>
              </a:r>
              <a:r>
                <a:rPr lang="en-US" sz="3200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de </a:t>
              </a:r>
              <a:r>
                <a:rPr lang="en-US" sz="3200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l’écart</a:t>
              </a:r>
              <a:r>
                <a:rPr lang="en-US" sz="3200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de bien-</a:t>
              </a:r>
              <a:r>
                <a:rPr lang="en-US" sz="3200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être</a:t>
              </a:r>
              <a:r>
                <a:rPr lang="en-US" sz="3200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200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mondial</a:t>
              </a:r>
              <a:r>
                <a:rPr lang="en-US" sz="3200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24954" y="422408"/>
            <a:ext cx="9322795" cy="3665042"/>
            <a:chOff x="0" y="-35882"/>
            <a:chExt cx="2455386" cy="9652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55386" cy="908128"/>
            </a:xfrm>
            <a:custGeom>
              <a:avLst/>
              <a:gdLst/>
              <a:ahLst/>
              <a:cxnLst/>
              <a:rect l="l" t="t" r="r" b="b"/>
              <a:pathLst>
                <a:path w="2455386" h="908128">
                  <a:moveTo>
                    <a:pt x="6643" y="0"/>
                  </a:moveTo>
                  <a:lnTo>
                    <a:pt x="2448743" y="0"/>
                  </a:lnTo>
                  <a:cubicBezTo>
                    <a:pt x="2452412" y="0"/>
                    <a:pt x="2455386" y="2974"/>
                    <a:pt x="2455386" y="6643"/>
                  </a:cubicBezTo>
                  <a:lnTo>
                    <a:pt x="2455386" y="901485"/>
                  </a:lnTo>
                  <a:cubicBezTo>
                    <a:pt x="2455386" y="905154"/>
                    <a:pt x="2452412" y="908128"/>
                    <a:pt x="2448743" y="908128"/>
                  </a:cubicBezTo>
                  <a:lnTo>
                    <a:pt x="6643" y="908128"/>
                  </a:lnTo>
                  <a:cubicBezTo>
                    <a:pt x="2974" y="908128"/>
                    <a:pt x="0" y="905154"/>
                    <a:pt x="0" y="901485"/>
                  </a:cubicBezTo>
                  <a:lnTo>
                    <a:pt x="0" y="6643"/>
                  </a:lnTo>
                  <a:cubicBezTo>
                    <a:pt x="0" y="2974"/>
                    <a:pt x="2974" y="0"/>
                    <a:pt x="6643" y="0"/>
                  </a:cubicBezTo>
                  <a:close/>
                </a:path>
              </a:pathLst>
            </a:custGeom>
            <a:solidFill>
              <a:srgbClr val="E9C3F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5882"/>
              <a:ext cx="2455386" cy="965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647700" lvl="1" indent="-323850" algn="l">
                <a:lnSpc>
                  <a:spcPts val="4200"/>
                </a:lnSpc>
                <a:buFont typeface="Arial"/>
                <a:buChar char="•"/>
              </a:pPr>
              <a:r>
                <a:rPr lang="en-US" sz="3000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Utiliser</a:t>
              </a:r>
              <a:r>
                <a:rPr lang="en-US" sz="3000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des </a:t>
              </a:r>
              <a:r>
                <a:rPr lang="en-US" sz="3000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modèles</a:t>
              </a:r>
              <a:r>
                <a:rPr lang="en-US" sz="3000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000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explicatifs</a:t>
              </a:r>
              <a:r>
                <a:rPr lang="en-US" sz="3000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(</a:t>
              </a:r>
              <a:r>
                <a:rPr lang="en-US" sz="3000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régression</a:t>
              </a:r>
              <a:r>
                <a:rPr lang="en-US" sz="3000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000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linéaire</a:t>
              </a:r>
              <a:r>
                <a:rPr lang="en-US" sz="3000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).</a:t>
              </a:r>
            </a:p>
            <a:p>
              <a:pPr marL="647700" lvl="1" indent="-323850" algn="l">
                <a:lnSpc>
                  <a:spcPts val="4200"/>
                </a:lnSpc>
                <a:buFont typeface="Arial"/>
                <a:buChar char="•"/>
              </a:pPr>
              <a:r>
                <a:rPr lang="en-US" sz="3000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Mesurer</a:t>
              </a:r>
              <a:r>
                <a:rPr lang="en-US" sz="3000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000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l’influence</a:t>
              </a:r>
              <a:r>
                <a:rPr lang="en-US" sz="3000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000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réelle</a:t>
              </a:r>
              <a:r>
                <a:rPr lang="en-US" sz="3000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de </a:t>
              </a:r>
              <a:r>
                <a:rPr lang="en-US" sz="3000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chaque</a:t>
              </a:r>
              <a:r>
                <a:rPr lang="en-US" sz="3000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000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facteur</a:t>
              </a:r>
              <a:r>
                <a:rPr lang="en-US" sz="3000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du bonheur.</a:t>
              </a:r>
            </a:p>
            <a:p>
              <a:pPr marL="647700" lvl="1" indent="-323850" algn="l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Comparer </a:t>
              </a:r>
              <a:r>
                <a:rPr lang="en-US" sz="3000" dirty="0" err="1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l’importance</a:t>
              </a:r>
              <a:r>
                <a:rPr lang="en-US" sz="3000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des variables entre 2015 et 2023.</a:t>
              </a:r>
            </a:p>
          </p:txBody>
        </p:sp>
      </p:grpSp>
      <p:sp>
        <p:nvSpPr>
          <p:cNvPr id="8" name="AutoShape 8"/>
          <p:cNvSpPr/>
          <p:nvPr/>
        </p:nvSpPr>
        <p:spPr>
          <a:xfrm>
            <a:off x="10010868" y="5741254"/>
            <a:ext cx="3097169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9" name="AutoShape 9"/>
          <p:cNvSpPr/>
          <p:nvPr/>
        </p:nvSpPr>
        <p:spPr>
          <a:xfrm flipV="1">
            <a:off x="10010869" y="2282673"/>
            <a:ext cx="3097169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0" name="Group 10"/>
          <p:cNvGrpSpPr/>
          <p:nvPr/>
        </p:nvGrpSpPr>
        <p:grpSpPr>
          <a:xfrm>
            <a:off x="13271158" y="4925275"/>
            <a:ext cx="2704843" cy="1503406"/>
            <a:chOff x="0" y="-57475"/>
            <a:chExt cx="712387" cy="39595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12387" cy="319759"/>
            </a:xfrm>
            <a:custGeom>
              <a:avLst/>
              <a:gdLst/>
              <a:ahLst/>
              <a:cxnLst/>
              <a:rect l="l" t="t" r="r" b="b"/>
              <a:pathLst>
                <a:path w="712387" h="319759">
                  <a:moveTo>
                    <a:pt x="22898" y="0"/>
                  </a:moveTo>
                  <a:lnTo>
                    <a:pt x="689489" y="0"/>
                  </a:lnTo>
                  <a:cubicBezTo>
                    <a:pt x="702135" y="0"/>
                    <a:pt x="712387" y="10252"/>
                    <a:pt x="712387" y="22898"/>
                  </a:cubicBezTo>
                  <a:lnTo>
                    <a:pt x="712387" y="296861"/>
                  </a:lnTo>
                  <a:cubicBezTo>
                    <a:pt x="712387" y="309507"/>
                    <a:pt x="702135" y="319759"/>
                    <a:pt x="689489" y="319759"/>
                  </a:cubicBezTo>
                  <a:lnTo>
                    <a:pt x="22898" y="319759"/>
                  </a:lnTo>
                  <a:cubicBezTo>
                    <a:pt x="10252" y="319759"/>
                    <a:pt x="0" y="309507"/>
                    <a:pt x="0" y="296861"/>
                  </a:cubicBezTo>
                  <a:lnTo>
                    <a:pt x="0" y="22898"/>
                  </a:lnTo>
                  <a:cubicBezTo>
                    <a:pt x="0" y="10252"/>
                    <a:pt x="10252" y="0"/>
                    <a:pt x="22898" y="0"/>
                  </a:cubicBezTo>
                  <a:close/>
                </a:path>
              </a:pathLst>
            </a:custGeom>
            <a:solidFill>
              <a:srgbClr val="D3CBF9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475"/>
              <a:ext cx="712387" cy="3959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sz="3500" b="1" dirty="0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KPI 5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271158" y="1503227"/>
            <a:ext cx="2704843" cy="1503406"/>
            <a:chOff x="0" y="-39135"/>
            <a:chExt cx="712387" cy="39595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12387" cy="319759"/>
            </a:xfrm>
            <a:custGeom>
              <a:avLst/>
              <a:gdLst/>
              <a:ahLst/>
              <a:cxnLst/>
              <a:rect l="l" t="t" r="r" b="b"/>
              <a:pathLst>
                <a:path w="712387" h="319759">
                  <a:moveTo>
                    <a:pt x="22898" y="0"/>
                  </a:moveTo>
                  <a:lnTo>
                    <a:pt x="689489" y="0"/>
                  </a:lnTo>
                  <a:cubicBezTo>
                    <a:pt x="702135" y="0"/>
                    <a:pt x="712387" y="10252"/>
                    <a:pt x="712387" y="22898"/>
                  </a:cubicBezTo>
                  <a:lnTo>
                    <a:pt x="712387" y="296861"/>
                  </a:lnTo>
                  <a:cubicBezTo>
                    <a:pt x="712387" y="309507"/>
                    <a:pt x="702135" y="319759"/>
                    <a:pt x="689489" y="319759"/>
                  </a:cubicBezTo>
                  <a:lnTo>
                    <a:pt x="22898" y="319759"/>
                  </a:lnTo>
                  <a:cubicBezTo>
                    <a:pt x="10252" y="319759"/>
                    <a:pt x="0" y="309507"/>
                    <a:pt x="0" y="296861"/>
                  </a:cubicBezTo>
                  <a:lnTo>
                    <a:pt x="0" y="22898"/>
                  </a:lnTo>
                  <a:cubicBezTo>
                    <a:pt x="0" y="10252"/>
                    <a:pt x="10252" y="0"/>
                    <a:pt x="22898" y="0"/>
                  </a:cubicBezTo>
                  <a:close/>
                </a:path>
              </a:pathLst>
            </a:custGeom>
            <a:solidFill>
              <a:srgbClr val="D3CBF9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9135"/>
              <a:ext cx="712387" cy="3959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sz="3500" b="1" dirty="0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KPI 4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7496120" y="9449655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22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7774" y="8556262"/>
            <a:ext cx="17772451" cy="1287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179"/>
              </a:lnSpc>
            </a:pPr>
            <a:r>
              <a:rPr lang="en-US" sz="3699" b="1" dirty="0">
                <a:solidFill>
                  <a:srgbClr val="CB6C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 Machine Learning </a:t>
            </a:r>
            <a:r>
              <a:rPr lang="en-US" sz="3699" b="1" dirty="0" err="1">
                <a:solidFill>
                  <a:srgbClr val="CB6C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permet</a:t>
            </a:r>
            <a:r>
              <a:rPr lang="en-US" sz="3699" b="1" dirty="0">
                <a:solidFill>
                  <a:srgbClr val="CB6C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de </a:t>
            </a:r>
            <a:r>
              <a:rPr lang="en-US" sz="3699" b="1" dirty="0" err="1">
                <a:solidFill>
                  <a:srgbClr val="CB6C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prévoir</a:t>
            </a:r>
            <a:r>
              <a:rPr lang="en-US" sz="3699" b="1" dirty="0">
                <a:solidFill>
                  <a:srgbClr val="CB6C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</a:t>
            </a:r>
            <a:r>
              <a:rPr lang="en-US" sz="3699" b="1" dirty="0" err="1">
                <a:solidFill>
                  <a:srgbClr val="CB6C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expliquer</a:t>
            </a:r>
            <a:r>
              <a:rPr lang="en-US" sz="3699" b="1" dirty="0">
                <a:solidFill>
                  <a:srgbClr val="CB6C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et </a:t>
            </a:r>
            <a:r>
              <a:rPr lang="en-US" sz="3699" b="1" dirty="0" err="1">
                <a:solidFill>
                  <a:srgbClr val="CB6C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orienter</a:t>
            </a:r>
            <a:r>
              <a:rPr lang="en-US" sz="3699" b="1" dirty="0">
                <a:solidFill>
                  <a:srgbClr val="CB6C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les politiques de bien-</a:t>
            </a:r>
            <a:r>
              <a:rPr lang="en-US" sz="3699" b="1" dirty="0" err="1">
                <a:solidFill>
                  <a:srgbClr val="CB6C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être</a:t>
            </a:r>
            <a:r>
              <a:rPr lang="en-US" sz="3699" b="1" dirty="0">
                <a:solidFill>
                  <a:srgbClr val="CB6C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de manière plus </a:t>
            </a:r>
            <a:r>
              <a:rPr lang="en-US" sz="3699" b="1" dirty="0" err="1">
                <a:solidFill>
                  <a:srgbClr val="CB6C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efficace</a:t>
            </a:r>
            <a:r>
              <a:rPr lang="en-US" sz="3699" b="1" dirty="0">
                <a:solidFill>
                  <a:srgbClr val="CB6C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243819" y="265916"/>
            <a:ext cx="3864100" cy="2939267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444532" y="1058483"/>
            <a:ext cx="7924800" cy="1239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9037"/>
              </a:lnSpc>
            </a:pPr>
            <a:r>
              <a:rPr lang="en-US" sz="10041" b="1" spc="-461">
                <a:solidFill>
                  <a:srgbClr val="B991CF"/>
                </a:solidFill>
                <a:latin typeface="TT Fors Bold"/>
                <a:ea typeface="TT Fors Bold"/>
                <a:cs typeface="TT Fors Bold"/>
                <a:sym typeface="TT Fors Bold"/>
              </a:rPr>
              <a:t>Conclusion  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469241" y="2804436"/>
            <a:ext cx="13525588" cy="5733543"/>
            <a:chOff x="0" y="0"/>
            <a:chExt cx="3562295" cy="15100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562295" cy="1510069"/>
            </a:xfrm>
            <a:custGeom>
              <a:avLst/>
              <a:gdLst/>
              <a:ahLst/>
              <a:cxnLst/>
              <a:rect l="l" t="t" r="r" b="b"/>
              <a:pathLst>
                <a:path w="3562295" h="1510069">
                  <a:moveTo>
                    <a:pt x="4579" y="0"/>
                  </a:moveTo>
                  <a:lnTo>
                    <a:pt x="3557716" y="0"/>
                  </a:lnTo>
                  <a:cubicBezTo>
                    <a:pt x="3560245" y="0"/>
                    <a:pt x="3562295" y="2050"/>
                    <a:pt x="3562295" y="4579"/>
                  </a:cubicBezTo>
                  <a:lnTo>
                    <a:pt x="3562295" y="1505490"/>
                  </a:lnTo>
                  <a:cubicBezTo>
                    <a:pt x="3562295" y="1508019"/>
                    <a:pt x="3560245" y="1510069"/>
                    <a:pt x="3557716" y="1510069"/>
                  </a:cubicBezTo>
                  <a:lnTo>
                    <a:pt x="4579" y="1510069"/>
                  </a:lnTo>
                  <a:cubicBezTo>
                    <a:pt x="3365" y="1510069"/>
                    <a:pt x="2200" y="1509587"/>
                    <a:pt x="1341" y="1508728"/>
                  </a:cubicBezTo>
                  <a:cubicBezTo>
                    <a:pt x="482" y="1507869"/>
                    <a:pt x="0" y="1506704"/>
                    <a:pt x="0" y="1505490"/>
                  </a:cubicBezTo>
                  <a:lnTo>
                    <a:pt x="0" y="4579"/>
                  </a:lnTo>
                  <a:cubicBezTo>
                    <a:pt x="0" y="2050"/>
                    <a:pt x="2050" y="0"/>
                    <a:pt x="4579" y="0"/>
                  </a:cubicBezTo>
                  <a:close/>
                </a:path>
              </a:pathLst>
            </a:custGeom>
            <a:solidFill>
              <a:srgbClr val="E9C3F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562295" cy="154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15556" y="2976584"/>
            <a:ext cx="13232958" cy="525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L’analyse des données sur le bonheur permet de comprendre les différences entre pays et les facteurs qui influencent le bien-être.</a:t>
            </a:r>
          </a:p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Les indicateurs clés (</a:t>
            </a:r>
            <a:r>
              <a:rPr lang="en-US" sz="3000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PIB par habitant, santé, liberté</a:t>
            </a:r>
            <a:r>
              <a:rPr lang="en-US" sz="30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, etc.) mettent en évidence des tendances majeures et des écarts significatifs entre pays.</a:t>
            </a:r>
          </a:p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Ces données constituent un outil d’aide à la décision pour anticiper l’évolution du bonheur et orienter les politiques publiques.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496120" y="9449655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73693" y="-433592"/>
            <a:ext cx="19574302" cy="11154184"/>
          </a:xfrm>
          <a:custGeom>
            <a:avLst/>
            <a:gdLst/>
            <a:ahLst/>
            <a:cxnLst/>
            <a:rect l="l" t="t" r="r" b="b"/>
            <a:pathLst>
              <a:path w="19574302" h="11154184">
                <a:moveTo>
                  <a:pt x="0" y="0"/>
                </a:moveTo>
                <a:lnTo>
                  <a:pt x="19574303" y="0"/>
                </a:lnTo>
                <a:lnTo>
                  <a:pt x="19574303" y="11154184"/>
                </a:lnTo>
                <a:lnTo>
                  <a:pt x="0" y="111541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459" b="-84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70702" y="4672013"/>
            <a:ext cx="16685513" cy="1228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8999"/>
              </a:lnSpc>
            </a:pPr>
            <a:r>
              <a:rPr lang="en-US" sz="9999" b="1" i="1" spc="-459">
                <a:solidFill>
                  <a:srgbClr val="8C52FF"/>
                </a:solidFill>
                <a:latin typeface="TT Fors Bold Italics"/>
                <a:ea typeface="TT Fors Bold Italics"/>
                <a:cs typeface="TT Fors Bold Italics"/>
                <a:sym typeface="TT Fors Bold Italics"/>
              </a:rPr>
              <a:t>Merci pour votre attention !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496120" y="9449655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1203</Words>
  <Application>Microsoft Office PowerPoint</Application>
  <PresentationFormat>Custom</PresentationFormat>
  <Paragraphs>167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TT Fors</vt:lpstr>
      <vt:lpstr>Canva Sans Bold</vt:lpstr>
      <vt:lpstr>TT Fors Bold</vt:lpstr>
      <vt:lpstr>TT Fors Bold Italics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- Projet Python</dc:title>
  <dc:creator>HP</dc:creator>
  <cp:lastModifiedBy>benrachedrim</cp:lastModifiedBy>
  <cp:revision>4</cp:revision>
  <dcterms:created xsi:type="dcterms:W3CDTF">2006-08-16T00:00:00Z</dcterms:created>
  <dcterms:modified xsi:type="dcterms:W3CDTF">2025-12-24T09:14:12Z</dcterms:modified>
  <dc:identifier>DAG7BzvsFQw</dc:identifier>
</cp:coreProperties>
</file>